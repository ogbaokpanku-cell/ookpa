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315" r:id="rId2"/>
    <p:sldId id="318" r:id="rId3"/>
    <p:sldId id="258" r:id="rId4"/>
    <p:sldId id="259" r:id="rId5"/>
    <p:sldId id="312" r:id="rId6"/>
    <p:sldId id="260" r:id="rId7"/>
    <p:sldId id="263" r:id="rId8"/>
    <p:sldId id="261" r:id="rId9"/>
    <p:sldId id="262" r:id="rId10"/>
    <p:sldId id="264" r:id="rId11"/>
    <p:sldId id="265" r:id="rId12"/>
    <p:sldId id="266" r:id="rId13"/>
    <p:sldId id="268" r:id="rId14"/>
    <p:sldId id="269" r:id="rId15"/>
    <p:sldId id="270" r:id="rId16"/>
    <p:sldId id="271" r:id="rId17"/>
    <p:sldId id="267" r:id="rId18"/>
    <p:sldId id="317" r:id="rId19"/>
    <p:sldId id="272" r:id="rId20"/>
    <p:sldId id="273" r:id="rId21"/>
    <p:sldId id="274" r:id="rId22"/>
    <p:sldId id="275" r:id="rId23"/>
    <p:sldId id="276" r:id="rId24"/>
    <p:sldId id="277" r:id="rId25"/>
    <p:sldId id="291" r:id="rId26"/>
    <p:sldId id="316" r:id="rId27"/>
    <p:sldId id="303" r:id="rId28"/>
    <p:sldId id="304" r:id="rId29"/>
    <p:sldId id="305" r:id="rId30"/>
    <p:sldId id="306" r:id="rId31"/>
    <p:sldId id="307" r:id="rId32"/>
    <p:sldId id="278" r:id="rId33"/>
    <p:sldId id="279" r:id="rId34"/>
    <p:sldId id="280" r:id="rId35"/>
    <p:sldId id="281" r:id="rId36"/>
    <p:sldId id="282" r:id="rId37"/>
    <p:sldId id="299" r:id="rId38"/>
    <p:sldId id="300" r:id="rId39"/>
    <p:sldId id="301" r:id="rId40"/>
    <p:sldId id="302" r:id="rId41"/>
    <p:sldId id="284" r:id="rId42"/>
    <p:sldId id="285" r:id="rId43"/>
    <p:sldId id="294" r:id="rId44"/>
    <p:sldId id="295" r:id="rId45"/>
    <p:sldId id="296" r:id="rId46"/>
    <p:sldId id="297" r:id="rId47"/>
    <p:sldId id="286" r:id="rId48"/>
    <p:sldId id="287" r:id="rId49"/>
    <p:sldId id="288" r:id="rId50"/>
    <p:sldId id="289" r:id="rId51"/>
    <p:sldId id="290" r:id="rId52"/>
    <p:sldId id="292" r:id="rId53"/>
    <p:sldId id="293" r:id="rId54"/>
    <p:sldId id="309" r:id="rId55"/>
    <p:sldId id="310" r:id="rId56"/>
    <p:sldId id="308" r:id="rId57"/>
    <p:sldId id="313" r:id="rId58"/>
    <p:sldId id="314" r:id="rId5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6" d="100"/>
          <a:sy n="76" d="100"/>
        </p:scale>
        <p:origin x="62"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915583-1840-41A8-9BDD-2B9AADAA4529}" type="datetimeFigureOut">
              <a:rPr lang="en-GB" smtClean="0"/>
              <a:t>26/09/2026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F801353-677B-43AA-934C-154A8E360884}" type="slidenum">
              <a:rPr lang="en-GB" smtClean="0"/>
              <a:t>‹#›</a:t>
            </a:fld>
            <a:endParaRPr lang="en-GB"/>
          </a:p>
        </p:txBody>
      </p:sp>
    </p:spTree>
    <p:extLst>
      <p:ext uri="{BB962C8B-B14F-4D97-AF65-F5344CB8AC3E}">
        <p14:creationId xmlns:p14="http://schemas.microsoft.com/office/powerpoint/2010/main" val="26223833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915583-1840-41A8-9BDD-2B9AADAA4529}" type="datetimeFigureOut">
              <a:rPr lang="en-GB" smtClean="0"/>
              <a:t>26/09/2026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F801353-677B-43AA-934C-154A8E360884}" type="slidenum">
              <a:rPr lang="en-GB" smtClean="0"/>
              <a:t>‹#›</a:t>
            </a:fld>
            <a:endParaRPr lang="en-GB"/>
          </a:p>
        </p:txBody>
      </p:sp>
    </p:spTree>
    <p:extLst>
      <p:ext uri="{BB962C8B-B14F-4D97-AF65-F5344CB8AC3E}">
        <p14:creationId xmlns:p14="http://schemas.microsoft.com/office/powerpoint/2010/main" val="40100732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915583-1840-41A8-9BDD-2B9AADAA4529}" type="datetimeFigureOut">
              <a:rPr lang="en-GB" smtClean="0"/>
              <a:t>26/09/2026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F801353-677B-43AA-934C-154A8E360884}" type="slidenum">
              <a:rPr lang="en-GB" smtClean="0"/>
              <a:t>‹#›</a:t>
            </a:fld>
            <a:endParaRPr lang="en-GB"/>
          </a:p>
        </p:txBody>
      </p:sp>
    </p:spTree>
    <p:extLst>
      <p:ext uri="{BB962C8B-B14F-4D97-AF65-F5344CB8AC3E}">
        <p14:creationId xmlns:p14="http://schemas.microsoft.com/office/powerpoint/2010/main" val="25290329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915583-1840-41A8-9BDD-2B9AADAA4529}" type="datetimeFigureOut">
              <a:rPr lang="en-GB" smtClean="0"/>
              <a:t>26/09/2026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CF801353-677B-43AA-934C-154A8E360884}" type="slidenum">
              <a:rPr lang="en-GB" smtClean="0"/>
              <a:t>‹#›</a:t>
            </a:fld>
            <a:endParaRPr lang="en-GB"/>
          </a:p>
        </p:txBody>
      </p:sp>
    </p:spTree>
    <p:extLst>
      <p:ext uri="{BB962C8B-B14F-4D97-AF65-F5344CB8AC3E}">
        <p14:creationId xmlns:p14="http://schemas.microsoft.com/office/powerpoint/2010/main" val="29676830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915583-1840-41A8-9BDD-2B9AADAA4529}" type="datetimeFigureOut">
              <a:rPr lang="en-GB" smtClean="0"/>
              <a:t>26/09/2026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CF801353-677B-43AA-934C-154A8E360884}" type="slidenum">
              <a:rPr lang="en-GB" smtClean="0"/>
              <a:t>‹#›</a:t>
            </a:fld>
            <a:endParaRPr lang="en-GB"/>
          </a:p>
        </p:txBody>
      </p:sp>
    </p:spTree>
    <p:extLst>
      <p:ext uri="{BB962C8B-B14F-4D97-AF65-F5344CB8AC3E}">
        <p14:creationId xmlns:p14="http://schemas.microsoft.com/office/powerpoint/2010/main" val="8592829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915583-1840-41A8-9BDD-2B9AADAA4529}" type="datetimeFigureOut">
              <a:rPr lang="en-GB" smtClean="0"/>
              <a:t>26/09/2026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CF801353-677B-43AA-934C-154A8E360884}" type="slidenum">
              <a:rPr lang="en-GB" smtClean="0"/>
              <a:t>‹#›</a:t>
            </a:fld>
            <a:endParaRPr lang="en-GB"/>
          </a:p>
        </p:txBody>
      </p:sp>
    </p:spTree>
    <p:extLst>
      <p:ext uri="{BB962C8B-B14F-4D97-AF65-F5344CB8AC3E}">
        <p14:creationId xmlns:p14="http://schemas.microsoft.com/office/powerpoint/2010/main" val="42796010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915583-1840-41A8-9BDD-2B9AADAA4529}" type="datetimeFigureOut">
              <a:rPr lang="en-GB" smtClean="0"/>
              <a:t>26/09/2026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CF801353-677B-43AA-934C-154A8E360884}" type="slidenum">
              <a:rPr lang="en-GB" smtClean="0"/>
              <a:t>‹#›</a:t>
            </a:fld>
            <a:endParaRPr lang="en-GB"/>
          </a:p>
        </p:txBody>
      </p:sp>
    </p:spTree>
    <p:extLst>
      <p:ext uri="{BB962C8B-B14F-4D97-AF65-F5344CB8AC3E}">
        <p14:creationId xmlns:p14="http://schemas.microsoft.com/office/powerpoint/2010/main" val="41993191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915583-1840-41A8-9BDD-2B9AADAA4529}" type="datetimeFigureOut">
              <a:rPr lang="en-GB" smtClean="0"/>
              <a:t>26/09/2026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CF801353-677B-43AA-934C-154A8E360884}" type="slidenum">
              <a:rPr lang="en-GB" smtClean="0"/>
              <a:t>‹#›</a:t>
            </a:fld>
            <a:endParaRPr lang="en-GB"/>
          </a:p>
        </p:txBody>
      </p:sp>
    </p:spTree>
    <p:extLst>
      <p:ext uri="{BB962C8B-B14F-4D97-AF65-F5344CB8AC3E}">
        <p14:creationId xmlns:p14="http://schemas.microsoft.com/office/powerpoint/2010/main" val="30679529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915583-1840-41A8-9BDD-2B9AADAA4529}" type="datetimeFigureOut">
              <a:rPr lang="en-GB" smtClean="0"/>
              <a:t>26/09/2026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CF801353-677B-43AA-934C-154A8E360884}" type="slidenum">
              <a:rPr lang="en-GB" smtClean="0"/>
              <a:t>‹#›</a:t>
            </a:fld>
            <a:endParaRPr lang="en-GB"/>
          </a:p>
        </p:txBody>
      </p:sp>
    </p:spTree>
    <p:extLst>
      <p:ext uri="{BB962C8B-B14F-4D97-AF65-F5344CB8AC3E}">
        <p14:creationId xmlns:p14="http://schemas.microsoft.com/office/powerpoint/2010/main" val="10042264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915583-1840-41A8-9BDD-2B9AADAA4529}" type="datetimeFigureOut">
              <a:rPr lang="en-GB" smtClean="0"/>
              <a:t>26/09/2026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F801353-677B-43AA-934C-154A8E360884}" type="slidenum">
              <a:rPr lang="en-GB" smtClean="0"/>
              <a:t>‹#›</a:t>
            </a:fld>
            <a:endParaRPr lang="en-GB"/>
          </a:p>
        </p:txBody>
      </p:sp>
    </p:spTree>
    <p:extLst>
      <p:ext uri="{BB962C8B-B14F-4D97-AF65-F5344CB8AC3E}">
        <p14:creationId xmlns:p14="http://schemas.microsoft.com/office/powerpoint/2010/main" val="42244195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915583-1840-41A8-9BDD-2B9AADAA4529}" type="datetimeFigureOut">
              <a:rPr lang="en-GB" smtClean="0"/>
              <a:t>26/09/2026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F801353-677B-43AA-934C-154A8E360884}" type="slidenum">
              <a:rPr lang="en-GB" smtClean="0"/>
              <a:t>‹#›</a:t>
            </a:fld>
            <a:endParaRPr lang="en-GB"/>
          </a:p>
        </p:txBody>
      </p:sp>
    </p:spTree>
    <p:extLst>
      <p:ext uri="{BB962C8B-B14F-4D97-AF65-F5344CB8AC3E}">
        <p14:creationId xmlns:p14="http://schemas.microsoft.com/office/powerpoint/2010/main" val="33522052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B0F0">
            <a:alpha val="25000"/>
          </a:srgb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8915583-1840-41A8-9BDD-2B9AADAA4529}" type="datetimeFigureOut">
              <a:rPr lang="en-GB" smtClean="0"/>
              <a:t>26/09/2026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F801353-677B-43AA-934C-154A8E360884}" type="slidenum">
              <a:rPr lang="en-GB" smtClean="0"/>
              <a:t>‹#›</a:t>
            </a:fld>
            <a:endParaRPr lang="en-GB"/>
          </a:p>
        </p:txBody>
      </p:sp>
    </p:spTree>
    <p:extLst>
      <p:ext uri="{BB962C8B-B14F-4D97-AF65-F5344CB8AC3E}">
        <p14:creationId xmlns:p14="http://schemas.microsoft.com/office/powerpoint/2010/main" val="34067642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8F90786E-B72D-4C32-BDCE-A170B00782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5E46F2E7-848F-4A6C-A098-4764FDEA77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pic>
        <p:nvPicPr>
          <p:cNvPr id="4" name="Picture 3" descr="What is Penetration Testing and How do we do it at Computer One?">
            <a:extLst>
              <a:ext uri="{FF2B5EF4-FFF2-40B4-BE49-F238E27FC236}">
                <a16:creationId xmlns:a16="http://schemas.microsoft.com/office/drawing/2014/main" id="{29833420-B82B-5287-8FE2-0DEE18EE07DC}"/>
              </a:ext>
            </a:extLst>
          </p:cNvPr>
          <p:cNvPicPr>
            <a:picLocks noChangeAspect="1"/>
          </p:cNvPicPr>
          <p:nvPr/>
        </p:nvPicPr>
        <p:blipFill>
          <a:blip r:embed="rId2">
            <a:alphaModFix amt="60000"/>
          </a:blip>
          <a:srcRect b="1747"/>
          <a:stretch>
            <a:fillRect/>
          </a:stretch>
        </p:blipFill>
        <p:spPr>
          <a:xfrm>
            <a:off x="-1" y="10"/>
            <a:ext cx="12192001" cy="6857990"/>
          </a:xfrm>
          <a:prstGeom prst="rect">
            <a:avLst/>
          </a:prstGeom>
        </p:spPr>
      </p:pic>
      <p:sp>
        <p:nvSpPr>
          <p:cNvPr id="6" name="TextBox 5">
            <a:extLst>
              <a:ext uri="{FF2B5EF4-FFF2-40B4-BE49-F238E27FC236}">
                <a16:creationId xmlns:a16="http://schemas.microsoft.com/office/drawing/2014/main" id="{A9819149-5313-EDC1-4287-CF471C96D573}"/>
              </a:ext>
            </a:extLst>
          </p:cNvPr>
          <p:cNvSpPr txBox="1"/>
          <p:nvPr/>
        </p:nvSpPr>
        <p:spPr>
          <a:xfrm>
            <a:off x="8581291" y="5426110"/>
            <a:ext cx="3336053" cy="723481"/>
          </a:xfrm>
          <a:prstGeom prst="rect">
            <a:avLst/>
          </a:prstGeom>
        </p:spPr>
        <p:txBody>
          <a:bodyPr vert="horz" lIns="91440" tIns="45720" rIns="91440" bIns="45720" rtlCol="0">
            <a:normAutofit/>
          </a:bodyPr>
          <a:lstStyle/>
          <a:p>
            <a:pPr defTabSz="914400">
              <a:lnSpc>
                <a:spcPct val="90000"/>
              </a:lnSpc>
              <a:spcAft>
                <a:spcPts val="600"/>
              </a:spcAft>
            </a:pPr>
            <a:r>
              <a:rPr lang="en-US" sz="2000" b="1" dirty="0">
                <a:solidFill>
                  <a:srgbClr val="FFFFFF"/>
                </a:solidFill>
              </a:rPr>
              <a:t>OGBA OKPANKU</a:t>
            </a:r>
          </a:p>
          <a:p>
            <a:pPr defTabSz="914400">
              <a:lnSpc>
                <a:spcPct val="90000"/>
              </a:lnSpc>
              <a:spcAft>
                <a:spcPts val="600"/>
              </a:spcAft>
            </a:pPr>
            <a:r>
              <a:rPr lang="en-US" sz="2000" b="1" dirty="0">
                <a:solidFill>
                  <a:srgbClr val="FFFFFF"/>
                </a:solidFill>
              </a:rPr>
              <a:t>21 FEBRUARY, 2026</a:t>
            </a:r>
          </a:p>
        </p:txBody>
      </p:sp>
    </p:spTree>
    <p:extLst>
      <p:ext uri="{BB962C8B-B14F-4D97-AF65-F5344CB8AC3E}">
        <p14:creationId xmlns:p14="http://schemas.microsoft.com/office/powerpoint/2010/main" val="33062813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0149069-32D8-ABDE-FD10-55896F4A0C7D}"/>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2F15A2D-2324-487D-A02A-BF46C5C580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17A7F34E-D418-47E2-9F86-2C45BBC312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1732" y="321733"/>
            <a:ext cx="11546828" cy="6214534"/>
          </a:xfrm>
          <a:custGeom>
            <a:avLst/>
            <a:gdLst>
              <a:gd name="connsiteX0" fmla="*/ 0 w 11546828"/>
              <a:gd name="connsiteY0" fmla="*/ 0 h 6214534"/>
              <a:gd name="connsiteX1" fmla="*/ 7965430 w 11546828"/>
              <a:gd name="connsiteY1" fmla="*/ 0 h 6214534"/>
              <a:gd name="connsiteX2" fmla="*/ 7965430 w 11546828"/>
              <a:gd name="connsiteY2" fmla="*/ 1786 h 6214534"/>
              <a:gd name="connsiteX3" fmla="*/ 11546828 w 11546828"/>
              <a:gd name="connsiteY3" fmla="*/ 1786 h 6214534"/>
              <a:gd name="connsiteX4" fmla="*/ 11546828 w 11546828"/>
              <a:gd name="connsiteY4" fmla="*/ 2866740 h 6214534"/>
              <a:gd name="connsiteX5" fmla="*/ 11225095 w 11546828"/>
              <a:gd name="connsiteY5" fmla="*/ 3179536 h 6214534"/>
              <a:gd name="connsiteX6" fmla="*/ 11225095 w 11546828"/>
              <a:gd name="connsiteY6" fmla="*/ 301542 h 6214534"/>
              <a:gd name="connsiteX7" fmla="*/ 320042 w 11546828"/>
              <a:gd name="connsiteY7" fmla="*/ 301542 h 6214534"/>
              <a:gd name="connsiteX8" fmla="*/ 320042 w 11546828"/>
              <a:gd name="connsiteY8" fmla="*/ 5909424 h 6214534"/>
              <a:gd name="connsiteX9" fmla="*/ 8417210 w 11546828"/>
              <a:gd name="connsiteY9" fmla="*/ 5909424 h 6214534"/>
              <a:gd name="connsiteX10" fmla="*/ 8103383 w 11546828"/>
              <a:gd name="connsiteY10" fmla="*/ 6214534 h 6214534"/>
              <a:gd name="connsiteX11" fmla="*/ 7222929 w 11546828"/>
              <a:gd name="connsiteY11" fmla="*/ 6214534 h 6214534"/>
              <a:gd name="connsiteX12" fmla="*/ 7222929 w 11546828"/>
              <a:gd name="connsiteY12" fmla="*/ 6212748 h 6214534"/>
              <a:gd name="connsiteX13" fmla="*/ 0 w 11546828"/>
              <a:gd name="connsiteY13" fmla="*/ 6212748 h 6214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546828" h="6214534">
                <a:moveTo>
                  <a:pt x="0" y="0"/>
                </a:moveTo>
                <a:lnTo>
                  <a:pt x="7965430" y="0"/>
                </a:lnTo>
                <a:lnTo>
                  <a:pt x="7965430" y="1786"/>
                </a:lnTo>
                <a:lnTo>
                  <a:pt x="11546828" y="1786"/>
                </a:lnTo>
                <a:lnTo>
                  <a:pt x="11546828" y="2866740"/>
                </a:lnTo>
                <a:lnTo>
                  <a:pt x="11225095" y="3179536"/>
                </a:lnTo>
                <a:lnTo>
                  <a:pt x="11225095" y="301542"/>
                </a:lnTo>
                <a:lnTo>
                  <a:pt x="320042" y="301542"/>
                </a:lnTo>
                <a:lnTo>
                  <a:pt x="320042" y="5909424"/>
                </a:lnTo>
                <a:lnTo>
                  <a:pt x="8417210" y="5909424"/>
                </a:lnTo>
                <a:lnTo>
                  <a:pt x="8103383" y="6214534"/>
                </a:lnTo>
                <a:lnTo>
                  <a:pt x="7222929" y="6214534"/>
                </a:lnTo>
                <a:lnTo>
                  <a:pt x="7222929" y="6212748"/>
                </a:lnTo>
                <a:lnTo>
                  <a:pt x="0" y="6212748"/>
                </a:lnTo>
                <a:close/>
              </a:path>
            </a:pathLst>
          </a:custGeom>
          <a:solidFill>
            <a:schemeClr val="tx1">
              <a:lumMod val="50000"/>
              <a:lumOff val="50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Right Triangle 13">
            <a:extLst>
              <a:ext uri="{FF2B5EF4-FFF2-40B4-BE49-F238E27FC236}">
                <a16:creationId xmlns:a16="http://schemas.microsoft.com/office/drawing/2014/main" id="{2AEAFA59-923A-4F54-8B49-44C970BCC3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Content Placeholder 4">
            <a:extLst>
              <a:ext uri="{FF2B5EF4-FFF2-40B4-BE49-F238E27FC236}">
                <a16:creationId xmlns:a16="http://schemas.microsoft.com/office/drawing/2014/main" id="{5A661EDF-1F2B-306C-D632-D49C48A4AE9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05679" y="918546"/>
            <a:ext cx="7459676" cy="4979334"/>
          </a:xfrm>
          <a:prstGeom prst="rect">
            <a:avLst/>
          </a:prstGeom>
        </p:spPr>
      </p:pic>
    </p:spTree>
    <p:extLst>
      <p:ext uri="{BB962C8B-B14F-4D97-AF65-F5344CB8AC3E}">
        <p14:creationId xmlns:p14="http://schemas.microsoft.com/office/powerpoint/2010/main" val="4002226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A65B2B8-D4E8-F52E-9BD9-3BA7609BA998}"/>
              </a:ext>
            </a:extLst>
          </p:cNvPr>
          <p:cNvSpPr>
            <a:spLocks noGrp="1"/>
          </p:cNvSpPr>
          <p:nvPr>
            <p:ph type="title"/>
          </p:nvPr>
        </p:nvSpPr>
        <p:spPr>
          <a:xfrm>
            <a:off x="466722" y="586855"/>
            <a:ext cx="3201366" cy="3387497"/>
          </a:xfrm>
        </p:spPr>
        <p:txBody>
          <a:bodyPr anchor="b">
            <a:normAutofit/>
          </a:bodyPr>
          <a:lstStyle/>
          <a:p>
            <a:pPr algn="r"/>
            <a:r>
              <a:rPr lang="en-GB" sz="4000">
                <a:solidFill>
                  <a:srgbClr val="FFFFFF"/>
                </a:solidFill>
              </a:rPr>
              <a:t>Executive Summary</a:t>
            </a:r>
          </a:p>
        </p:txBody>
      </p:sp>
      <p:sp>
        <p:nvSpPr>
          <p:cNvPr id="3" name="Content Placeholder 2">
            <a:extLst>
              <a:ext uri="{FF2B5EF4-FFF2-40B4-BE49-F238E27FC236}">
                <a16:creationId xmlns:a16="http://schemas.microsoft.com/office/drawing/2014/main" id="{2542D3C5-5593-CE41-337C-7A9F930B0C47}"/>
              </a:ext>
            </a:extLst>
          </p:cNvPr>
          <p:cNvSpPr>
            <a:spLocks noGrp="1"/>
          </p:cNvSpPr>
          <p:nvPr>
            <p:ph idx="1"/>
          </p:nvPr>
        </p:nvSpPr>
        <p:spPr>
          <a:xfrm>
            <a:off x="4810259" y="649480"/>
            <a:ext cx="6555347" cy="5546047"/>
          </a:xfrm>
        </p:spPr>
        <p:txBody>
          <a:bodyPr anchor="ctr">
            <a:normAutofit/>
          </a:bodyPr>
          <a:lstStyle/>
          <a:p>
            <a:r>
              <a:rPr lang="en-GB" sz="2000"/>
              <a:t>A comprehensive Internal penetration testing was conducted against the target host 192.168.2.4 to evaluate the security posture of the system and identify vulnerabilities that could be exploited by an attacker. The assessment identified a catastrophic security posture, with multiple high-impact vulnerabilities that allow for immediate and unauthenticated Root-level compromise.</a:t>
            </a:r>
          </a:p>
          <a:p>
            <a:pPr marL="0" indent="0">
              <a:buNone/>
            </a:pPr>
            <a:endParaRPr lang="en-GB" sz="2000"/>
          </a:p>
          <a:p>
            <a:r>
              <a:rPr lang="en-GB" sz="2000"/>
              <a:t>The system is currently running several "End-of-Life" (EOL) services dating back to 2007–2011, including a pre-installed Root Bindshell (Port 1524) and a Malicious Backdoor in the FTP service (Port 21). Furthermore, critical flaws in Java RMI, Telnet, and MySQL provide multiple redundant paths for an attacker to gain full administrative control, exfiltrate sensitive data, or disrupt operations.</a:t>
            </a:r>
          </a:p>
          <a:p>
            <a:endParaRPr lang="en-GB" sz="2000"/>
          </a:p>
        </p:txBody>
      </p:sp>
    </p:spTree>
    <p:extLst>
      <p:ext uri="{BB962C8B-B14F-4D97-AF65-F5344CB8AC3E}">
        <p14:creationId xmlns:p14="http://schemas.microsoft.com/office/powerpoint/2010/main" val="42764486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6B9E315-E8DD-B3BA-F370-2608987E37BB}"/>
              </a:ext>
            </a:extLst>
          </p:cNvPr>
          <p:cNvSpPr>
            <a:spLocks noGrp="1"/>
          </p:cNvSpPr>
          <p:nvPr>
            <p:ph type="title"/>
          </p:nvPr>
        </p:nvSpPr>
        <p:spPr>
          <a:xfrm>
            <a:off x="686834" y="1153572"/>
            <a:ext cx="3200400" cy="4461163"/>
          </a:xfrm>
        </p:spPr>
        <p:txBody>
          <a:bodyPr>
            <a:normAutofit/>
          </a:bodyPr>
          <a:lstStyle/>
          <a:p>
            <a:r>
              <a:rPr lang="en-GB" sz="4100">
                <a:solidFill>
                  <a:srgbClr val="FFFFFF"/>
                </a:solidFill>
              </a:rPr>
              <a:t>Methodology</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AF862BE8-33F4-D63A-70BB-652645C180FD}"/>
              </a:ext>
            </a:extLst>
          </p:cNvPr>
          <p:cNvSpPr>
            <a:spLocks noGrp="1"/>
          </p:cNvSpPr>
          <p:nvPr>
            <p:ph idx="1"/>
          </p:nvPr>
        </p:nvSpPr>
        <p:spPr>
          <a:xfrm>
            <a:off x="4447308" y="591344"/>
            <a:ext cx="6906491" cy="5585619"/>
          </a:xfrm>
        </p:spPr>
        <p:txBody>
          <a:bodyPr anchor="ctr">
            <a:normAutofit/>
          </a:bodyPr>
          <a:lstStyle/>
          <a:p>
            <a:r>
              <a:rPr lang="en-GB" sz="1800"/>
              <a:t>The penetration test followed a structured industry-standard frameworks such as </a:t>
            </a:r>
            <a:r>
              <a:rPr lang="en-GB" sz="1800" b="1"/>
              <a:t>OWASP</a:t>
            </a:r>
            <a:r>
              <a:rPr lang="en-GB" sz="1800"/>
              <a:t> and </a:t>
            </a:r>
            <a:r>
              <a:rPr lang="en-GB" sz="1800" b="1"/>
              <a:t>NIST</a:t>
            </a:r>
            <a:r>
              <a:rPr lang="en-GB" sz="1800"/>
              <a:t> penetration testing guidelines.</a:t>
            </a:r>
          </a:p>
          <a:p>
            <a:endParaRPr lang="en-GB" sz="1800"/>
          </a:p>
          <a:p>
            <a:pPr marL="0" indent="0">
              <a:buNone/>
            </a:pPr>
            <a:r>
              <a:rPr lang="en-GB" sz="1800"/>
              <a:t>The assessment consisted of the following phases:</a:t>
            </a:r>
          </a:p>
          <a:p>
            <a:r>
              <a:rPr lang="en-GB" sz="1800"/>
              <a:t>Reconnaissance</a:t>
            </a:r>
          </a:p>
          <a:p>
            <a:r>
              <a:rPr lang="en-GB" sz="1800"/>
              <a:t>Service Enumeration</a:t>
            </a:r>
          </a:p>
          <a:p>
            <a:r>
              <a:rPr lang="en-GB" sz="1800"/>
              <a:t>Vulnerability Identification</a:t>
            </a:r>
          </a:p>
          <a:p>
            <a:r>
              <a:rPr lang="en-GB" sz="1800"/>
              <a:t>Exploitation</a:t>
            </a:r>
          </a:p>
          <a:p>
            <a:r>
              <a:rPr lang="en-GB" sz="1800"/>
              <a:t>Post-Exploitation</a:t>
            </a:r>
          </a:p>
          <a:p>
            <a:r>
              <a:rPr lang="en-GB" sz="1800"/>
              <a:t>Reporting</a:t>
            </a:r>
          </a:p>
          <a:p>
            <a:pPr marL="0" indent="0">
              <a:buNone/>
            </a:pPr>
            <a:r>
              <a:rPr lang="en-GB" sz="1800"/>
              <a:t>The objective was to simulate the techniques used by real-world attackers to identify security weaknesses. Testing was performed using tools including:</a:t>
            </a:r>
          </a:p>
          <a:p>
            <a:r>
              <a:rPr lang="en-GB" sz="1800"/>
              <a:t>Nmap</a:t>
            </a:r>
          </a:p>
          <a:p>
            <a:r>
              <a:rPr lang="en-GB" sz="1800"/>
              <a:t>Metasploit Framework</a:t>
            </a:r>
          </a:p>
          <a:p>
            <a:pPr marL="0" indent="0">
              <a:buNone/>
            </a:pPr>
            <a:endParaRPr lang="en-GB" sz="1800"/>
          </a:p>
          <a:p>
            <a:pPr marL="0" indent="0">
              <a:buNone/>
            </a:pPr>
            <a:endParaRPr lang="en-GB" sz="1800"/>
          </a:p>
          <a:p>
            <a:endParaRPr lang="en-GB" sz="1800"/>
          </a:p>
        </p:txBody>
      </p:sp>
    </p:spTree>
    <p:extLst>
      <p:ext uri="{BB962C8B-B14F-4D97-AF65-F5344CB8AC3E}">
        <p14:creationId xmlns:p14="http://schemas.microsoft.com/office/powerpoint/2010/main" val="6693228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C38A3C6-012A-C7C2-D339-75A030DAEC1F}"/>
              </a:ext>
            </a:extLst>
          </p:cNvPr>
          <p:cNvSpPr>
            <a:spLocks noGrp="1"/>
          </p:cNvSpPr>
          <p:nvPr>
            <p:ph type="title"/>
          </p:nvPr>
        </p:nvSpPr>
        <p:spPr>
          <a:xfrm>
            <a:off x="686834" y="1153572"/>
            <a:ext cx="3200400" cy="4461163"/>
          </a:xfrm>
        </p:spPr>
        <p:txBody>
          <a:bodyPr>
            <a:normAutofit/>
          </a:bodyPr>
          <a:lstStyle/>
          <a:p>
            <a:r>
              <a:rPr lang="en-GB">
                <a:solidFill>
                  <a:srgbClr val="FFFFFF"/>
                </a:solidFill>
              </a:rPr>
              <a:t>Scope of engagement</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1F1D0399-73F4-AE4C-3438-9F7803157E10}"/>
              </a:ext>
            </a:extLst>
          </p:cNvPr>
          <p:cNvSpPr>
            <a:spLocks noGrp="1"/>
          </p:cNvSpPr>
          <p:nvPr>
            <p:ph idx="1"/>
          </p:nvPr>
        </p:nvSpPr>
        <p:spPr>
          <a:xfrm>
            <a:off x="4447308" y="591344"/>
            <a:ext cx="6906491" cy="5585619"/>
          </a:xfrm>
        </p:spPr>
        <p:txBody>
          <a:bodyPr anchor="ctr">
            <a:normAutofit/>
          </a:bodyPr>
          <a:lstStyle/>
          <a:p>
            <a:pPr marL="0" indent="0">
              <a:buNone/>
            </a:pPr>
            <a:r>
              <a:rPr lang="en-GB" sz="2200"/>
              <a:t>In-Scope</a:t>
            </a:r>
            <a:r>
              <a:rPr lang="en-GB" sz="2200" b="1"/>
              <a:t> </a:t>
            </a:r>
            <a:endParaRPr lang="en-GB" sz="2200"/>
          </a:p>
          <a:p>
            <a:pPr marL="0" indent="0">
              <a:buNone/>
            </a:pPr>
            <a:r>
              <a:rPr lang="en-GB" sz="2200"/>
              <a:t>The penetration test was conducted within an isolated lab environment consisting of:</a:t>
            </a:r>
          </a:p>
          <a:p>
            <a:pPr lvl="0"/>
            <a:r>
              <a:rPr lang="en-GB" sz="2200"/>
              <a:t>Attacker Machine: Kali Linux</a:t>
            </a:r>
          </a:p>
          <a:p>
            <a:pPr lvl="0"/>
            <a:r>
              <a:rPr lang="en-GB" sz="2200"/>
              <a:t>Target Machine: </a:t>
            </a:r>
            <a:r>
              <a:rPr lang="en-GB" sz="2200" err="1"/>
              <a:t>Metasploitable</a:t>
            </a:r>
            <a:r>
              <a:rPr lang="en-GB" sz="2200"/>
              <a:t> 2</a:t>
            </a:r>
          </a:p>
          <a:p>
            <a:pPr lvl="0"/>
            <a:r>
              <a:rPr lang="en-GB" sz="2200"/>
              <a:t>Network Type: Internal Virtual Network</a:t>
            </a:r>
          </a:p>
          <a:p>
            <a:pPr marL="0" indent="0">
              <a:buNone/>
            </a:pPr>
            <a:endParaRPr lang="en-GB" sz="2200"/>
          </a:p>
          <a:p>
            <a:pPr marL="0" indent="0">
              <a:buNone/>
            </a:pPr>
            <a:r>
              <a:rPr lang="en-GB" sz="2200"/>
              <a:t>Out of scope</a:t>
            </a:r>
          </a:p>
          <a:p>
            <a:pPr marL="0" indent="0">
              <a:buNone/>
            </a:pPr>
            <a:r>
              <a:rPr lang="en-GB" sz="2200"/>
              <a:t>The assessment did not include:</a:t>
            </a:r>
          </a:p>
          <a:p>
            <a:pPr lvl="0"/>
            <a:r>
              <a:rPr lang="en-GB" sz="2200"/>
              <a:t>Denial-of-Service (DoS) attacks</a:t>
            </a:r>
          </a:p>
          <a:p>
            <a:pPr lvl="0"/>
            <a:r>
              <a:rPr lang="en-GB" sz="2200"/>
              <a:t>Testing of systems outside the defined target IP address</a:t>
            </a:r>
          </a:p>
          <a:p>
            <a:pPr lvl="0"/>
            <a:r>
              <a:rPr lang="en-GB" sz="2200"/>
              <a:t>Physical security testing</a:t>
            </a:r>
          </a:p>
          <a:p>
            <a:pPr lvl="0"/>
            <a:r>
              <a:rPr lang="en-GB" sz="2200"/>
              <a:t>Social engineering attacks</a:t>
            </a:r>
          </a:p>
          <a:p>
            <a:endParaRPr lang="en-GB" sz="2200"/>
          </a:p>
        </p:txBody>
      </p:sp>
    </p:spTree>
    <p:extLst>
      <p:ext uri="{BB962C8B-B14F-4D97-AF65-F5344CB8AC3E}">
        <p14:creationId xmlns:p14="http://schemas.microsoft.com/office/powerpoint/2010/main" val="26121343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CCA8D-5ED7-2894-EDDA-6A323AC3CF96}"/>
              </a:ext>
            </a:extLst>
          </p:cNvPr>
          <p:cNvSpPr>
            <a:spLocks noGrp="1"/>
          </p:cNvSpPr>
          <p:nvPr>
            <p:ph type="title"/>
          </p:nvPr>
        </p:nvSpPr>
        <p:spPr>
          <a:xfrm>
            <a:off x="441789" y="200740"/>
            <a:ext cx="10922285" cy="467080"/>
          </a:xfrm>
        </p:spPr>
        <p:txBody>
          <a:bodyPr>
            <a:normAutofit fontScale="90000"/>
          </a:bodyPr>
          <a:lstStyle/>
          <a:p>
            <a:pPr algn="ctr"/>
            <a:r>
              <a:rPr lang="en-GB" dirty="0"/>
              <a:t>Ping the target </a:t>
            </a:r>
            <a:r>
              <a:rPr lang="en-GB" dirty="0" err="1"/>
              <a:t>ip</a:t>
            </a:r>
            <a:r>
              <a:rPr lang="en-GB" dirty="0"/>
              <a:t> on the host machine</a:t>
            </a:r>
          </a:p>
        </p:txBody>
      </p:sp>
      <p:pic>
        <p:nvPicPr>
          <p:cNvPr id="5" name="Content Placeholder 4">
            <a:extLst>
              <a:ext uri="{FF2B5EF4-FFF2-40B4-BE49-F238E27FC236}">
                <a16:creationId xmlns:a16="http://schemas.microsoft.com/office/drawing/2014/main" id="{7A1F83FF-08F0-09D8-6094-959174F1CEB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4387" y="667820"/>
            <a:ext cx="11928296" cy="6082301"/>
          </a:xfrm>
          <a:prstGeom prst="rect">
            <a:avLst/>
          </a:prstGeom>
        </p:spPr>
      </p:pic>
    </p:spTree>
    <p:extLst>
      <p:ext uri="{BB962C8B-B14F-4D97-AF65-F5344CB8AC3E}">
        <p14:creationId xmlns:p14="http://schemas.microsoft.com/office/powerpoint/2010/main" val="12313460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C9AB84-765F-D413-FC53-9528FCAB33FD}"/>
              </a:ext>
            </a:extLst>
          </p:cNvPr>
          <p:cNvSpPr>
            <a:spLocks noGrp="1"/>
          </p:cNvSpPr>
          <p:nvPr>
            <p:ph type="title"/>
          </p:nvPr>
        </p:nvSpPr>
        <p:spPr>
          <a:xfrm>
            <a:off x="824501" y="87330"/>
            <a:ext cx="10515600" cy="426378"/>
          </a:xfrm>
        </p:spPr>
        <p:txBody>
          <a:bodyPr>
            <a:normAutofit fontScale="90000"/>
          </a:bodyPr>
          <a:lstStyle/>
          <a:p>
            <a:pPr algn="ctr"/>
            <a:r>
              <a:rPr lang="en-GB" dirty="0"/>
              <a:t>Host </a:t>
            </a:r>
            <a:r>
              <a:rPr lang="en-GB" dirty="0" err="1"/>
              <a:t>ip</a:t>
            </a:r>
            <a:r>
              <a:rPr lang="en-GB" dirty="0"/>
              <a:t> address</a:t>
            </a:r>
          </a:p>
        </p:txBody>
      </p:sp>
      <p:pic>
        <p:nvPicPr>
          <p:cNvPr id="5" name="Content Placeholder 4">
            <a:extLst>
              <a:ext uri="{FF2B5EF4-FFF2-40B4-BE49-F238E27FC236}">
                <a16:creationId xmlns:a16="http://schemas.microsoft.com/office/drawing/2014/main" id="{327AFA2F-DE43-1564-DDDE-C4489C8F1E9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2193" y="513708"/>
            <a:ext cx="12000216" cy="6256962"/>
          </a:xfrm>
          <a:prstGeom prst="rect">
            <a:avLst/>
          </a:prstGeom>
        </p:spPr>
      </p:pic>
    </p:spTree>
    <p:extLst>
      <p:ext uri="{BB962C8B-B14F-4D97-AF65-F5344CB8AC3E}">
        <p14:creationId xmlns:p14="http://schemas.microsoft.com/office/powerpoint/2010/main" val="20128660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145FD4-19F9-58FC-2E87-3DBF9340C996}"/>
              </a:ext>
            </a:extLst>
          </p:cNvPr>
          <p:cNvSpPr>
            <a:spLocks noGrp="1"/>
          </p:cNvSpPr>
          <p:nvPr>
            <p:ph type="title"/>
          </p:nvPr>
        </p:nvSpPr>
        <p:spPr>
          <a:xfrm>
            <a:off x="788542" y="231562"/>
            <a:ext cx="10515600" cy="436258"/>
          </a:xfrm>
        </p:spPr>
        <p:txBody>
          <a:bodyPr>
            <a:normAutofit fontScale="90000"/>
          </a:bodyPr>
          <a:lstStyle/>
          <a:p>
            <a:pPr algn="ctr"/>
            <a:r>
              <a:rPr lang="en-GB" dirty="0"/>
              <a:t>Set-up database for the engagement</a:t>
            </a:r>
          </a:p>
        </p:txBody>
      </p:sp>
      <p:pic>
        <p:nvPicPr>
          <p:cNvPr id="5" name="Content Placeholder 4">
            <a:extLst>
              <a:ext uri="{FF2B5EF4-FFF2-40B4-BE49-F238E27FC236}">
                <a16:creationId xmlns:a16="http://schemas.microsoft.com/office/drawing/2014/main" id="{288A6150-98C6-87C5-36A0-979FDAC22E1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3291" y="667820"/>
            <a:ext cx="11846102" cy="6113124"/>
          </a:xfrm>
          <a:prstGeom prst="rect">
            <a:avLst/>
          </a:prstGeom>
        </p:spPr>
      </p:pic>
    </p:spTree>
    <p:extLst>
      <p:ext uri="{BB962C8B-B14F-4D97-AF65-F5344CB8AC3E}">
        <p14:creationId xmlns:p14="http://schemas.microsoft.com/office/powerpoint/2010/main" val="3887366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4BB388-B5F4-25C5-8E1D-71593101C622}"/>
              </a:ext>
            </a:extLst>
          </p:cNvPr>
          <p:cNvSpPr>
            <a:spLocks noGrp="1"/>
          </p:cNvSpPr>
          <p:nvPr>
            <p:ph type="title"/>
          </p:nvPr>
        </p:nvSpPr>
        <p:spPr>
          <a:xfrm>
            <a:off x="819364" y="77057"/>
            <a:ext cx="10515600" cy="508570"/>
          </a:xfrm>
        </p:spPr>
        <p:txBody>
          <a:bodyPr>
            <a:normAutofit fontScale="90000"/>
          </a:bodyPr>
          <a:lstStyle/>
          <a:p>
            <a:pPr algn="ctr"/>
            <a:r>
              <a:rPr lang="en-GB" dirty="0"/>
              <a:t>Nova Penetration workspace</a:t>
            </a:r>
          </a:p>
        </p:txBody>
      </p:sp>
      <p:pic>
        <p:nvPicPr>
          <p:cNvPr id="5" name="Content Placeholder 4">
            <a:extLst>
              <a:ext uri="{FF2B5EF4-FFF2-40B4-BE49-F238E27FC236}">
                <a16:creationId xmlns:a16="http://schemas.microsoft.com/office/drawing/2014/main" id="{92B87104-9FA4-B9F1-94A9-3A759EA76DA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3837" y="585628"/>
            <a:ext cx="11969393" cy="6195316"/>
          </a:xfrm>
          <a:prstGeom prst="rect">
            <a:avLst/>
          </a:prstGeom>
        </p:spPr>
      </p:pic>
    </p:spTree>
    <p:extLst>
      <p:ext uri="{BB962C8B-B14F-4D97-AF65-F5344CB8AC3E}">
        <p14:creationId xmlns:p14="http://schemas.microsoft.com/office/powerpoint/2010/main" val="17990202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96A8C-1AAA-27D3-EC67-D48675F173BD}"/>
              </a:ext>
            </a:extLst>
          </p:cNvPr>
          <p:cNvSpPr>
            <a:spLocks noGrp="1"/>
          </p:cNvSpPr>
          <p:nvPr>
            <p:ph type="title"/>
          </p:nvPr>
        </p:nvSpPr>
        <p:spPr>
          <a:xfrm>
            <a:off x="482885" y="108272"/>
            <a:ext cx="10963382" cy="631467"/>
          </a:xfrm>
        </p:spPr>
        <p:txBody>
          <a:bodyPr>
            <a:normAutofit fontScale="90000"/>
          </a:bodyPr>
          <a:lstStyle/>
          <a:p>
            <a:pPr algn="ctr"/>
            <a:r>
              <a:rPr lang="en-GB" dirty="0"/>
              <a:t>Reconnaissance-Nmap scan discovery</a:t>
            </a:r>
          </a:p>
        </p:txBody>
      </p:sp>
      <p:pic>
        <p:nvPicPr>
          <p:cNvPr id="5" name="Content Placeholder 4">
            <a:extLst>
              <a:ext uri="{FF2B5EF4-FFF2-40B4-BE49-F238E27FC236}">
                <a16:creationId xmlns:a16="http://schemas.microsoft.com/office/drawing/2014/main" id="{09BD24F5-CB2F-F050-D424-27BD72D0D3A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4661" y="739740"/>
            <a:ext cx="11907748" cy="6118260"/>
          </a:xfrm>
          <a:prstGeom prst="rect">
            <a:avLst/>
          </a:prstGeom>
        </p:spPr>
      </p:pic>
    </p:spTree>
    <p:extLst>
      <p:ext uri="{BB962C8B-B14F-4D97-AF65-F5344CB8AC3E}">
        <p14:creationId xmlns:p14="http://schemas.microsoft.com/office/powerpoint/2010/main" val="21536042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AF1D7A-D7F1-B764-35B6-A7879EDC51C7}"/>
              </a:ext>
            </a:extLst>
          </p:cNvPr>
          <p:cNvSpPr>
            <a:spLocks noGrp="1"/>
          </p:cNvSpPr>
          <p:nvPr>
            <p:ph type="title"/>
          </p:nvPr>
        </p:nvSpPr>
        <p:spPr>
          <a:xfrm>
            <a:off x="838200" y="149367"/>
            <a:ext cx="10515600" cy="364341"/>
          </a:xfrm>
        </p:spPr>
        <p:txBody>
          <a:bodyPr>
            <a:normAutofit fontScale="90000"/>
          </a:bodyPr>
          <a:lstStyle/>
          <a:p>
            <a:pPr algn="ctr"/>
            <a:r>
              <a:rPr lang="en-GB" dirty="0"/>
              <a:t>Apache http 2.2.8 Nmap scan 1</a:t>
            </a:r>
          </a:p>
        </p:txBody>
      </p:sp>
      <p:pic>
        <p:nvPicPr>
          <p:cNvPr id="5" name="Content Placeholder 4">
            <a:extLst>
              <a:ext uri="{FF2B5EF4-FFF2-40B4-BE49-F238E27FC236}">
                <a16:creationId xmlns:a16="http://schemas.microsoft.com/office/drawing/2014/main" id="{BC9F039A-46A0-DB08-7EDF-FC298F00159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4387" y="585626"/>
            <a:ext cx="11897474" cy="6272373"/>
          </a:xfrm>
          <a:prstGeom prst="rect">
            <a:avLst/>
          </a:prstGeom>
        </p:spPr>
      </p:pic>
    </p:spTree>
    <p:extLst>
      <p:ext uri="{BB962C8B-B14F-4D97-AF65-F5344CB8AC3E}">
        <p14:creationId xmlns:p14="http://schemas.microsoft.com/office/powerpoint/2010/main" val="7680583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A1D20B-B778-822C-0403-F14B3FCD4630}"/>
              </a:ext>
            </a:extLst>
          </p:cNvPr>
          <p:cNvSpPr>
            <a:spLocks noGrp="1"/>
          </p:cNvSpPr>
          <p:nvPr>
            <p:ph type="title"/>
          </p:nvPr>
        </p:nvSpPr>
        <p:spPr>
          <a:xfrm>
            <a:off x="838200" y="118545"/>
            <a:ext cx="10515600" cy="436259"/>
          </a:xfrm>
        </p:spPr>
        <p:txBody>
          <a:bodyPr>
            <a:normAutofit fontScale="90000"/>
          </a:bodyPr>
          <a:lstStyle/>
          <a:p>
            <a:pPr algn="ctr"/>
            <a:r>
              <a:rPr lang="en-GB" dirty="0"/>
              <a:t>Nmap scan - open port and services</a:t>
            </a:r>
          </a:p>
        </p:txBody>
      </p:sp>
      <p:pic>
        <p:nvPicPr>
          <p:cNvPr id="5" name="Content Placeholder 4">
            <a:extLst>
              <a:ext uri="{FF2B5EF4-FFF2-40B4-BE49-F238E27FC236}">
                <a16:creationId xmlns:a16="http://schemas.microsoft.com/office/drawing/2014/main" id="{7A38A7B5-FC52-9213-9B23-9A0EC417CAE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4661" y="554804"/>
            <a:ext cx="11897474" cy="6303196"/>
          </a:xfrm>
          <a:prstGeom prst="rect">
            <a:avLst/>
          </a:prstGeom>
        </p:spPr>
      </p:pic>
    </p:spTree>
    <p:extLst>
      <p:ext uri="{BB962C8B-B14F-4D97-AF65-F5344CB8AC3E}">
        <p14:creationId xmlns:p14="http://schemas.microsoft.com/office/powerpoint/2010/main" val="28520196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4A72C-88A7-BA76-E644-8AD8A619AF29}"/>
              </a:ext>
            </a:extLst>
          </p:cNvPr>
          <p:cNvSpPr>
            <a:spLocks noGrp="1"/>
          </p:cNvSpPr>
          <p:nvPr>
            <p:ph type="title"/>
          </p:nvPr>
        </p:nvSpPr>
        <p:spPr>
          <a:xfrm>
            <a:off x="838200" y="180192"/>
            <a:ext cx="10515600" cy="415710"/>
          </a:xfrm>
        </p:spPr>
        <p:txBody>
          <a:bodyPr>
            <a:normAutofit fontScale="90000"/>
          </a:bodyPr>
          <a:lstStyle/>
          <a:p>
            <a:pPr algn="ctr"/>
            <a:r>
              <a:rPr lang="en-GB" dirty="0"/>
              <a:t>Enumeration of services- </a:t>
            </a:r>
            <a:r>
              <a:rPr lang="en-GB" dirty="0" err="1"/>
              <a:t>vsftpd</a:t>
            </a:r>
            <a:endParaRPr lang="en-GB" dirty="0"/>
          </a:p>
        </p:txBody>
      </p:sp>
      <p:pic>
        <p:nvPicPr>
          <p:cNvPr id="5" name="Content Placeholder 4">
            <a:extLst>
              <a:ext uri="{FF2B5EF4-FFF2-40B4-BE49-F238E27FC236}">
                <a16:creationId xmlns:a16="http://schemas.microsoft.com/office/drawing/2014/main" id="{E213741E-A448-50DE-3F1C-DAB0B399BE2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8710" y="595902"/>
            <a:ext cx="11741780" cy="6174768"/>
          </a:xfrm>
          <a:prstGeom prst="rect">
            <a:avLst/>
          </a:prstGeom>
        </p:spPr>
      </p:pic>
    </p:spTree>
    <p:extLst>
      <p:ext uri="{BB962C8B-B14F-4D97-AF65-F5344CB8AC3E}">
        <p14:creationId xmlns:p14="http://schemas.microsoft.com/office/powerpoint/2010/main" val="37649599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C7D96A-1DE0-DF0F-FDCB-0CB05BB8EB64}"/>
              </a:ext>
            </a:extLst>
          </p:cNvPr>
          <p:cNvSpPr>
            <a:spLocks noGrp="1"/>
          </p:cNvSpPr>
          <p:nvPr>
            <p:ph type="title"/>
          </p:nvPr>
        </p:nvSpPr>
        <p:spPr>
          <a:xfrm>
            <a:off x="845048" y="118153"/>
            <a:ext cx="10515600" cy="539393"/>
          </a:xfrm>
        </p:spPr>
        <p:txBody>
          <a:bodyPr>
            <a:normAutofit fontScale="90000"/>
          </a:bodyPr>
          <a:lstStyle/>
          <a:p>
            <a:pPr algn="ctr"/>
            <a:r>
              <a:rPr lang="en-GB" dirty="0"/>
              <a:t>Telnet</a:t>
            </a:r>
          </a:p>
        </p:txBody>
      </p:sp>
      <p:pic>
        <p:nvPicPr>
          <p:cNvPr id="5" name="Content Placeholder 4">
            <a:extLst>
              <a:ext uri="{FF2B5EF4-FFF2-40B4-BE49-F238E27FC236}">
                <a16:creationId xmlns:a16="http://schemas.microsoft.com/office/drawing/2014/main" id="{AB3CC16B-4D0E-DD30-5917-CBC601C0D53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4111" y="657546"/>
            <a:ext cx="11897475" cy="6082301"/>
          </a:xfrm>
          <a:prstGeom prst="rect">
            <a:avLst/>
          </a:prstGeom>
        </p:spPr>
      </p:pic>
    </p:spTree>
    <p:extLst>
      <p:ext uri="{BB962C8B-B14F-4D97-AF65-F5344CB8AC3E}">
        <p14:creationId xmlns:p14="http://schemas.microsoft.com/office/powerpoint/2010/main" val="35579854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C28A74-0FD1-324C-1D6F-CE3B8F05CE98}"/>
              </a:ext>
            </a:extLst>
          </p:cNvPr>
          <p:cNvSpPr>
            <a:spLocks noGrp="1"/>
          </p:cNvSpPr>
          <p:nvPr>
            <p:ph type="title"/>
          </p:nvPr>
        </p:nvSpPr>
        <p:spPr>
          <a:xfrm>
            <a:off x="886937" y="118153"/>
            <a:ext cx="10515600" cy="488022"/>
          </a:xfrm>
        </p:spPr>
        <p:txBody>
          <a:bodyPr>
            <a:normAutofit fontScale="90000"/>
          </a:bodyPr>
          <a:lstStyle/>
          <a:p>
            <a:pPr algn="ctr"/>
            <a:r>
              <a:rPr lang="en-GB" dirty="0"/>
              <a:t>Java </a:t>
            </a:r>
            <a:r>
              <a:rPr lang="en-GB" dirty="0" err="1"/>
              <a:t>rmi</a:t>
            </a:r>
            <a:endParaRPr lang="en-GB" dirty="0"/>
          </a:p>
        </p:txBody>
      </p:sp>
      <p:pic>
        <p:nvPicPr>
          <p:cNvPr id="5" name="Content Placeholder 4">
            <a:extLst>
              <a:ext uri="{FF2B5EF4-FFF2-40B4-BE49-F238E27FC236}">
                <a16:creationId xmlns:a16="http://schemas.microsoft.com/office/drawing/2014/main" id="{012341E8-D919-DA63-45E5-D200B388BB3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8710" y="606176"/>
            <a:ext cx="11752054" cy="6133672"/>
          </a:xfrm>
          <a:prstGeom prst="rect">
            <a:avLst/>
          </a:prstGeom>
        </p:spPr>
      </p:pic>
    </p:spTree>
    <p:extLst>
      <p:ext uri="{BB962C8B-B14F-4D97-AF65-F5344CB8AC3E}">
        <p14:creationId xmlns:p14="http://schemas.microsoft.com/office/powerpoint/2010/main" val="3836300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A82598-B713-9197-6A1E-96E0131560E0}"/>
              </a:ext>
            </a:extLst>
          </p:cNvPr>
          <p:cNvSpPr>
            <a:spLocks noGrp="1"/>
          </p:cNvSpPr>
          <p:nvPr>
            <p:ph type="title"/>
          </p:nvPr>
        </p:nvSpPr>
        <p:spPr>
          <a:xfrm>
            <a:off x="834775" y="97604"/>
            <a:ext cx="10515600" cy="621194"/>
          </a:xfrm>
        </p:spPr>
        <p:txBody>
          <a:bodyPr>
            <a:normAutofit fontScale="90000"/>
          </a:bodyPr>
          <a:lstStyle/>
          <a:p>
            <a:pPr algn="ctr"/>
            <a:r>
              <a:rPr lang="en-GB" dirty="0" err="1"/>
              <a:t>ssl</a:t>
            </a:r>
            <a:r>
              <a:rPr lang="en-GB" dirty="0"/>
              <a:t>-poodle</a:t>
            </a:r>
          </a:p>
        </p:txBody>
      </p:sp>
      <p:pic>
        <p:nvPicPr>
          <p:cNvPr id="5" name="Content Placeholder 4">
            <a:extLst>
              <a:ext uri="{FF2B5EF4-FFF2-40B4-BE49-F238E27FC236}">
                <a16:creationId xmlns:a16="http://schemas.microsoft.com/office/drawing/2014/main" id="{4C6C8064-8794-5998-0373-C616E424F15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4935" y="718798"/>
            <a:ext cx="11815281" cy="6041598"/>
          </a:xfrm>
          <a:prstGeom prst="rect">
            <a:avLst/>
          </a:prstGeom>
        </p:spPr>
      </p:pic>
    </p:spTree>
    <p:extLst>
      <p:ext uri="{BB962C8B-B14F-4D97-AF65-F5344CB8AC3E}">
        <p14:creationId xmlns:p14="http://schemas.microsoft.com/office/powerpoint/2010/main" val="4177652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6224CF-62CA-1874-2E71-2110DBDC31E2}"/>
              </a:ext>
            </a:extLst>
          </p:cNvPr>
          <p:cNvSpPr>
            <a:spLocks noGrp="1"/>
          </p:cNvSpPr>
          <p:nvPr>
            <p:ph type="title"/>
          </p:nvPr>
        </p:nvSpPr>
        <p:spPr>
          <a:xfrm>
            <a:off x="380143" y="164388"/>
            <a:ext cx="10973657" cy="1202076"/>
          </a:xfrm>
        </p:spPr>
        <p:txBody>
          <a:bodyPr>
            <a:normAutofit fontScale="90000"/>
          </a:bodyPr>
          <a:lstStyle/>
          <a:p>
            <a:pPr algn="ctr"/>
            <a:r>
              <a:rPr lang="en-GB" dirty="0"/>
              <a:t>Vulnerability Scanning – Exploit on </a:t>
            </a:r>
            <a:r>
              <a:rPr lang="en-GB" dirty="0" err="1"/>
              <a:t>vsftpd</a:t>
            </a:r>
            <a:br>
              <a:rPr lang="en-GB" dirty="0"/>
            </a:br>
            <a:endParaRPr lang="en-GB" dirty="0"/>
          </a:p>
        </p:txBody>
      </p:sp>
      <p:pic>
        <p:nvPicPr>
          <p:cNvPr id="5" name="Content Placeholder 4">
            <a:extLst>
              <a:ext uri="{FF2B5EF4-FFF2-40B4-BE49-F238E27FC236}">
                <a16:creationId xmlns:a16="http://schemas.microsoft.com/office/drawing/2014/main" id="{272419E8-78E8-B458-05D1-1082A60D65D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2467" y="893852"/>
            <a:ext cx="11938571" cy="5799760"/>
          </a:xfrm>
          <a:prstGeom prst="rect">
            <a:avLst/>
          </a:prstGeom>
        </p:spPr>
      </p:pic>
    </p:spTree>
    <p:extLst>
      <p:ext uri="{BB962C8B-B14F-4D97-AF65-F5344CB8AC3E}">
        <p14:creationId xmlns:p14="http://schemas.microsoft.com/office/powerpoint/2010/main" val="5480490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1D139-EC5F-7681-C9B9-AB50CDFEAB7E}"/>
              </a:ext>
            </a:extLst>
          </p:cNvPr>
          <p:cNvSpPr>
            <a:spLocks noGrp="1"/>
          </p:cNvSpPr>
          <p:nvPr>
            <p:ph type="title"/>
          </p:nvPr>
        </p:nvSpPr>
        <p:spPr>
          <a:xfrm>
            <a:off x="838200" y="200738"/>
            <a:ext cx="10515600" cy="693113"/>
          </a:xfrm>
        </p:spPr>
        <p:txBody>
          <a:bodyPr>
            <a:normAutofit fontScale="90000"/>
          </a:bodyPr>
          <a:lstStyle/>
          <a:p>
            <a:pPr algn="ctr"/>
            <a:r>
              <a:rPr lang="en-GB" dirty="0"/>
              <a:t>CVE - </a:t>
            </a:r>
            <a:r>
              <a:rPr lang="en-GB" dirty="0" err="1"/>
              <a:t>vsftpd</a:t>
            </a:r>
            <a:r>
              <a:rPr lang="en-GB" dirty="0"/>
              <a:t> </a:t>
            </a:r>
          </a:p>
        </p:txBody>
      </p:sp>
      <p:pic>
        <p:nvPicPr>
          <p:cNvPr id="5" name="Content Placeholder 4">
            <a:extLst>
              <a:ext uri="{FF2B5EF4-FFF2-40B4-BE49-F238E27FC236}">
                <a16:creationId xmlns:a16="http://schemas.microsoft.com/office/drawing/2014/main" id="{034A40AC-4E9F-7877-2071-1C3A9486B88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893852"/>
            <a:ext cx="12192000" cy="5964148"/>
          </a:xfrm>
          <a:prstGeom prst="rect">
            <a:avLst/>
          </a:prstGeom>
        </p:spPr>
      </p:pic>
    </p:spTree>
    <p:extLst>
      <p:ext uri="{BB962C8B-B14F-4D97-AF65-F5344CB8AC3E}">
        <p14:creationId xmlns:p14="http://schemas.microsoft.com/office/powerpoint/2010/main" val="40166776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C1439B-A0EF-7FE3-DFD5-4A1F996B530F}"/>
              </a:ext>
            </a:extLst>
          </p:cNvPr>
          <p:cNvSpPr>
            <a:spLocks noGrp="1"/>
          </p:cNvSpPr>
          <p:nvPr>
            <p:ph type="title"/>
          </p:nvPr>
        </p:nvSpPr>
        <p:spPr>
          <a:xfrm>
            <a:off x="922895" y="169917"/>
            <a:ext cx="10515600" cy="590372"/>
          </a:xfrm>
        </p:spPr>
        <p:txBody>
          <a:bodyPr>
            <a:normAutofit fontScale="90000"/>
          </a:bodyPr>
          <a:lstStyle/>
          <a:p>
            <a:pPr algn="ctr"/>
            <a:r>
              <a:rPr lang="en-GB" dirty="0"/>
              <a:t>Exploit on Apache tomcat</a:t>
            </a:r>
          </a:p>
        </p:txBody>
      </p:sp>
      <p:pic>
        <p:nvPicPr>
          <p:cNvPr id="5" name="Content Placeholder 4">
            <a:extLst>
              <a:ext uri="{FF2B5EF4-FFF2-40B4-BE49-F238E27FC236}">
                <a16:creationId xmlns:a16="http://schemas.microsoft.com/office/drawing/2014/main" id="{0E83252F-202B-0562-6B21-0D4C1DE2663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8709" y="760289"/>
            <a:ext cx="11823973" cy="6010382"/>
          </a:xfrm>
          <a:prstGeom prst="rect">
            <a:avLst/>
          </a:prstGeom>
        </p:spPr>
      </p:pic>
    </p:spTree>
    <p:extLst>
      <p:ext uri="{BB962C8B-B14F-4D97-AF65-F5344CB8AC3E}">
        <p14:creationId xmlns:p14="http://schemas.microsoft.com/office/powerpoint/2010/main" val="24173586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A1112D-3FFE-DB1D-1A79-D7EEC8DDF6BF}"/>
              </a:ext>
            </a:extLst>
          </p:cNvPr>
          <p:cNvSpPr>
            <a:spLocks noGrp="1"/>
          </p:cNvSpPr>
          <p:nvPr>
            <p:ph type="title"/>
          </p:nvPr>
        </p:nvSpPr>
        <p:spPr>
          <a:xfrm>
            <a:off x="892074" y="190466"/>
            <a:ext cx="10515600" cy="508178"/>
          </a:xfrm>
        </p:spPr>
        <p:txBody>
          <a:bodyPr>
            <a:normAutofit fontScale="90000"/>
          </a:bodyPr>
          <a:lstStyle/>
          <a:p>
            <a:pPr algn="ctr"/>
            <a:r>
              <a:rPr lang="en-GB" dirty="0"/>
              <a:t>Exploit on Telnet</a:t>
            </a:r>
          </a:p>
        </p:txBody>
      </p:sp>
      <p:pic>
        <p:nvPicPr>
          <p:cNvPr id="5" name="Content Placeholder 4">
            <a:extLst>
              <a:ext uri="{FF2B5EF4-FFF2-40B4-BE49-F238E27FC236}">
                <a16:creationId xmlns:a16="http://schemas.microsoft.com/office/drawing/2014/main" id="{9FF00642-AF0C-EB16-DA34-EC432857ACB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8710" y="698644"/>
            <a:ext cx="11762328" cy="6061751"/>
          </a:xfrm>
          <a:prstGeom prst="rect">
            <a:avLst/>
          </a:prstGeom>
        </p:spPr>
      </p:pic>
    </p:spTree>
    <p:extLst>
      <p:ext uri="{BB962C8B-B14F-4D97-AF65-F5344CB8AC3E}">
        <p14:creationId xmlns:p14="http://schemas.microsoft.com/office/powerpoint/2010/main" val="16664968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00B90-F480-C6EF-7DA4-4A5BC4AC049D}"/>
              </a:ext>
            </a:extLst>
          </p:cNvPr>
          <p:cNvSpPr>
            <a:spLocks noGrp="1"/>
          </p:cNvSpPr>
          <p:nvPr>
            <p:ph type="title"/>
          </p:nvPr>
        </p:nvSpPr>
        <p:spPr>
          <a:xfrm>
            <a:off x="838200" y="231561"/>
            <a:ext cx="10515600" cy="446533"/>
          </a:xfrm>
        </p:spPr>
        <p:txBody>
          <a:bodyPr>
            <a:normAutofit fontScale="90000"/>
          </a:bodyPr>
          <a:lstStyle/>
          <a:p>
            <a:pPr algn="ctr"/>
            <a:r>
              <a:rPr lang="en-GB" dirty="0"/>
              <a:t>Exploit on MySQL</a:t>
            </a:r>
          </a:p>
        </p:txBody>
      </p:sp>
      <p:pic>
        <p:nvPicPr>
          <p:cNvPr id="5" name="Content Placeholder 4">
            <a:extLst>
              <a:ext uri="{FF2B5EF4-FFF2-40B4-BE49-F238E27FC236}">
                <a16:creationId xmlns:a16="http://schemas.microsoft.com/office/drawing/2014/main" id="{D1FEE52D-199F-2431-5D68-4620C60606B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8710" y="678094"/>
            <a:ext cx="11618490" cy="6179905"/>
          </a:xfrm>
          <a:prstGeom prst="rect">
            <a:avLst/>
          </a:prstGeom>
        </p:spPr>
      </p:pic>
    </p:spTree>
    <p:extLst>
      <p:ext uri="{BB962C8B-B14F-4D97-AF65-F5344CB8AC3E}">
        <p14:creationId xmlns:p14="http://schemas.microsoft.com/office/powerpoint/2010/main" val="7706511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FB7015-4FC7-A945-B803-3CCD3E97C901}"/>
              </a:ext>
            </a:extLst>
          </p:cNvPr>
          <p:cNvSpPr>
            <a:spLocks noGrp="1"/>
          </p:cNvSpPr>
          <p:nvPr>
            <p:ph type="title"/>
          </p:nvPr>
        </p:nvSpPr>
        <p:spPr>
          <a:xfrm>
            <a:off x="496155" y="244010"/>
            <a:ext cx="11035302" cy="1457790"/>
          </a:xfrm>
        </p:spPr>
        <p:txBody>
          <a:bodyPr>
            <a:normAutofit fontScale="90000"/>
          </a:bodyPr>
          <a:lstStyle/>
          <a:p>
            <a:r>
              <a:rPr lang="en-GB" b="1" dirty="0"/>
              <a:t>Vulnerability Analysis &amp; Prioritisation</a:t>
            </a:r>
            <a:br>
              <a:rPr lang="en-GB" b="1" dirty="0"/>
            </a:br>
            <a:r>
              <a:rPr lang="en-GB" sz="2200" b="1" dirty="0"/>
              <a:t>Severity is ranked according to CVSS v2/v3 Base Scores provided by the National Vulnerability Database (NVD).</a:t>
            </a:r>
            <a:br>
              <a:rPr lang="en-GB" sz="2200" b="1" dirty="0"/>
            </a:br>
            <a:endParaRPr lang="en-GB" b="1" dirty="0"/>
          </a:p>
        </p:txBody>
      </p:sp>
      <p:sp>
        <p:nvSpPr>
          <p:cNvPr id="3" name="Content Placeholder 2">
            <a:extLst>
              <a:ext uri="{FF2B5EF4-FFF2-40B4-BE49-F238E27FC236}">
                <a16:creationId xmlns:a16="http://schemas.microsoft.com/office/drawing/2014/main" id="{EFAA6198-57A4-4212-2B94-F5F6F74E129C}"/>
              </a:ext>
            </a:extLst>
          </p:cNvPr>
          <p:cNvSpPr>
            <a:spLocks noGrp="1"/>
          </p:cNvSpPr>
          <p:nvPr>
            <p:ph idx="1"/>
          </p:nvPr>
        </p:nvSpPr>
        <p:spPr>
          <a:xfrm>
            <a:off x="756006" y="2103634"/>
            <a:ext cx="10515600" cy="2812784"/>
          </a:xfrm>
        </p:spPr>
        <p:txBody>
          <a:bodyPr/>
          <a:lstStyle/>
          <a:p>
            <a:endParaRPr lang="en-GB" dirty="0"/>
          </a:p>
          <a:p>
            <a:pPr marL="0" indent="0">
              <a:buNone/>
            </a:pPr>
            <a:endParaRPr lang="en-GB" dirty="0"/>
          </a:p>
        </p:txBody>
      </p:sp>
      <p:graphicFrame>
        <p:nvGraphicFramePr>
          <p:cNvPr id="15" name="Table 14">
            <a:extLst>
              <a:ext uri="{FF2B5EF4-FFF2-40B4-BE49-F238E27FC236}">
                <a16:creationId xmlns:a16="http://schemas.microsoft.com/office/drawing/2014/main" id="{5D9433A5-FBFD-95DA-7236-DF462743C4A3}"/>
              </a:ext>
            </a:extLst>
          </p:cNvPr>
          <p:cNvGraphicFramePr>
            <a:graphicFrameLocks noGrp="1"/>
          </p:cNvGraphicFramePr>
          <p:nvPr>
            <p:extLst>
              <p:ext uri="{D42A27DB-BD31-4B8C-83A1-F6EECF244321}">
                <p14:modId xmlns:p14="http://schemas.microsoft.com/office/powerpoint/2010/main" val="2757612729"/>
              </p:ext>
            </p:extLst>
          </p:nvPr>
        </p:nvGraphicFramePr>
        <p:xfrm>
          <a:off x="496155" y="1457790"/>
          <a:ext cx="11349948" cy="4617720"/>
        </p:xfrm>
        <a:graphic>
          <a:graphicData uri="http://schemas.openxmlformats.org/drawingml/2006/table">
            <a:tbl>
              <a:tblPr firstRow="1" bandRow="1">
                <a:tableStyleId>{5940675A-B579-460E-94D1-54222C63F5DA}</a:tableStyleId>
              </a:tblPr>
              <a:tblGrid>
                <a:gridCol w="737477">
                  <a:extLst>
                    <a:ext uri="{9D8B030D-6E8A-4147-A177-3AD203B41FA5}">
                      <a16:colId xmlns:a16="http://schemas.microsoft.com/office/drawing/2014/main" val="1951147509"/>
                    </a:ext>
                  </a:extLst>
                </a:gridCol>
                <a:gridCol w="730291">
                  <a:extLst>
                    <a:ext uri="{9D8B030D-6E8A-4147-A177-3AD203B41FA5}">
                      <a16:colId xmlns:a16="http://schemas.microsoft.com/office/drawing/2014/main" val="1796017093"/>
                    </a:ext>
                  </a:extLst>
                </a:gridCol>
                <a:gridCol w="1767827">
                  <a:extLst>
                    <a:ext uri="{9D8B030D-6E8A-4147-A177-3AD203B41FA5}">
                      <a16:colId xmlns:a16="http://schemas.microsoft.com/office/drawing/2014/main" val="283933980"/>
                    </a:ext>
                  </a:extLst>
                </a:gridCol>
                <a:gridCol w="1775198">
                  <a:extLst>
                    <a:ext uri="{9D8B030D-6E8A-4147-A177-3AD203B41FA5}">
                      <a16:colId xmlns:a16="http://schemas.microsoft.com/office/drawing/2014/main" val="3791007059"/>
                    </a:ext>
                  </a:extLst>
                </a:gridCol>
                <a:gridCol w="1304818">
                  <a:extLst>
                    <a:ext uri="{9D8B030D-6E8A-4147-A177-3AD203B41FA5}">
                      <a16:colId xmlns:a16="http://schemas.microsoft.com/office/drawing/2014/main" val="3866269614"/>
                    </a:ext>
                  </a:extLst>
                </a:gridCol>
                <a:gridCol w="5034337">
                  <a:extLst>
                    <a:ext uri="{9D8B030D-6E8A-4147-A177-3AD203B41FA5}">
                      <a16:colId xmlns:a16="http://schemas.microsoft.com/office/drawing/2014/main" val="1315350645"/>
                    </a:ext>
                  </a:extLst>
                </a:gridCol>
              </a:tblGrid>
              <a:tr h="370840">
                <a:tc>
                  <a:txBody>
                    <a:bodyPr/>
                    <a:lstStyle/>
                    <a:p>
                      <a:r>
                        <a:rPr lang="en-GB" dirty="0"/>
                        <a:t>Rank </a:t>
                      </a:r>
                    </a:p>
                  </a:txBody>
                  <a:tcPr/>
                </a:tc>
                <a:tc>
                  <a:txBody>
                    <a:bodyPr/>
                    <a:lstStyle/>
                    <a:p>
                      <a:r>
                        <a:rPr lang="en-GB" dirty="0"/>
                        <a:t>Port</a:t>
                      </a:r>
                    </a:p>
                  </a:txBody>
                  <a:tcPr/>
                </a:tc>
                <a:tc>
                  <a:txBody>
                    <a:bodyPr/>
                    <a:lstStyle/>
                    <a:p>
                      <a:r>
                        <a:rPr lang="en-GB" dirty="0"/>
                        <a:t>Services / </a:t>
                      </a:r>
                      <a:r>
                        <a:rPr lang="en-GB" sz="1800" b="1" kern="1200" dirty="0">
                          <a:solidFill>
                            <a:schemeClr val="tx1"/>
                          </a:solidFill>
                          <a:effectLst/>
                          <a:latin typeface="+mn-lt"/>
                          <a:ea typeface="+mn-ea"/>
                          <a:cs typeface="+mn-cs"/>
                        </a:rPr>
                        <a:t>Version</a:t>
                      </a:r>
                      <a:endParaRPr lang="en-GB" dirty="0"/>
                    </a:p>
                  </a:txBody>
                  <a:tcPr/>
                </a:tc>
                <a:tc>
                  <a:txBody>
                    <a:bodyPr/>
                    <a:lstStyle/>
                    <a:p>
                      <a:r>
                        <a:rPr lang="en-GB" dirty="0"/>
                        <a:t>CVE ID</a:t>
                      </a:r>
                    </a:p>
                  </a:txBody>
                  <a:tcPr/>
                </a:tc>
                <a:tc>
                  <a:txBody>
                    <a:bodyPr/>
                    <a:lstStyle/>
                    <a:p>
                      <a:r>
                        <a:rPr lang="en-GB" dirty="0"/>
                        <a:t>Severity</a:t>
                      </a:r>
                    </a:p>
                  </a:txBody>
                  <a:tcPr/>
                </a:tc>
                <a:tc>
                  <a:txBody>
                    <a:bodyPr/>
                    <a:lstStyle/>
                    <a:p>
                      <a:r>
                        <a:rPr lang="en-GB" dirty="0"/>
                        <a:t>Impact</a:t>
                      </a:r>
                    </a:p>
                  </a:txBody>
                  <a:tcPr/>
                </a:tc>
                <a:extLst>
                  <a:ext uri="{0D108BD9-81ED-4DB2-BD59-A6C34878D82A}">
                    <a16:rowId xmlns:a16="http://schemas.microsoft.com/office/drawing/2014/main" val="799676947"/>
                  </a:ext>
                </a:extLst>
              </a:tr>
              <a:tr h="370840">
                <a:tc>
                  <a:txBody>
                    <a:bodyPr/>
                    <a:lstStyle/>
                    <a:p>
                      <a:r>
                        <a:rPr lang="en-GB" dirty="0"/>
                        <a:t>1</a:t>
                      </a:r>
                    </a:p>
                  </a:txBody>
                  <a:tcPr/>
                </a:tc>
                <a:tc>
                  <a:txBody>
                    <a:bodyPr/>
                    <a:lstStyle/>
                    <a:p>
                      <a:r>
                        <a:rPr lang="en-GB" sz="1800" kern="1200" dirty="0">
                          <a:solidFill>
                            <a:schemeClr val="tx1"/>
                          </a:solidFill>
                          <a:effectLst/>
                          <a:latin typeface="+mn-lt"/>
                          <a:ea typeface="+mn-ea"/>
                          <a:cs typeface="+mn-cs"/>
                        </a:rPr>
                        <a:t>8180</a:t>
                      </a:r>
                      <a:endParaRPr lang="en-GB" dirty="0"/>
                    </a:p>
                  </a:txBody>
                  <a:tcPr/>
                </a:tc>
                <a:tc>
                  <a:txBody>
                    <a:bodyPr/>
                    <a:lstStyle/>
                    <a:p>
                      <a:r>
                        <a:rPr lang="en-GB" sz="1800" b="0" kern="1200" dirty="0">
                          <a:solidFill>
                            <a:schemeClr val="tx1"/>
                          </a:solidFill>
                          <a:effectLst/>
                          <a:latin typeface="+mn-lt"/>
                          <a:ea typeface="+mn-ea"/>
                          <a:cs typeface="+mn-cs"/>
                        </a:rPr>
                        <a:t>Apache tomcat</a:t>
                      </a:r>
                      <a:endParaRPr lang="en-GB" b="0" dirty="0"/>
                    </a:p>
                  </a:txBody>
                  <a:tcPr/>
                </a:tc>
                <a:tc>
                  <a:txBody>
                    <a:bodyPr/>
                    <a:lstStyle/>
                    <a:p>
                      <a:r>
                        <a:rPr lang="en-GB" dirty="0"/>
                        <a:t>CVE-2010-2784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0" kern="1200" dirty="0">
                          <a:solidFill>
                            <a:schemeClr val="tx1"/>
                          </a:solidFill>
                          <a:effectLst/>
                          <a:latin typeface="+mn-lt"/>
                          <a:ea typeface="+mn-ea"/>
                          <a:cs typeface="+mn-cs"/>
                        </a:rPr>
                        <a:t>10.0 (Crit)</a:t>
                      </a:r>
                      <a:endParaRPr lang="en-GB" b="0" dirty="0">
                        <a:effectLst/>
                      </a:endParaRPr>
                    </a:p>
                  </a:txBody>
                  <a:tcPr/>
                </a:tc>
                <a:tc>
                  <a:txBody>
                    <a:bodyPr/>
                    <a:lstStyle/>
                    <a:p>
                      <a:r>
                        <a:rPr lang="en-GB" sz="1800" kern="1200" dirty="0">
                          <a:solidFill>
                            <a:schemeClr val="tx1"/>
                          </a:solidFill>
                          <a:effectLst/>
                          <a:latin typeface="+mn-lt"/>
                          <a:ea typeface="+mn-ea"/>
                          <a:cs typeface="+mn-cs"/>
                        </a:rPr>
                        <a:t>Deploy malicious application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800" kern="1200" dirty="0">
                          <a:solidFill>
                            <a:schemeClr val="tx1"/>
                          </a:solidFill>
                          <a:effectLst/>
                          <a:latin typeface="+mn-lt"/>
                          <a:ea typeface="+mn-ea"/>
                          <a:cs typeface="+mn-cs"/>
                        </a:rPr>
                        <a:t>Server takeover</a:t>
                      </a:r>
                    </a:p>
                  </a:txBody>
                  <a:tcPr/>
                </a:tc>
                <a:extLst>
                  <a:ext uri="{0D108BD9-81ED-4DB2-BD59-A6C34878D82A}">
                    <a16:rowId xmlns:a16="http://schemas.microsoft.com/office/drawing/2014/main" val="1609282375"/>
                  </a:ext>
                </a:extLst>
              </a:tr>
              <a:tr h="370840">
                <a:tc>
                  <a:txBody>
                    <a:bodyPr/>
                    <a:lstStyle/>
                    <a:p>
                      <a:r>
                        <a:rPr lang="en-GB" dirty="0"/>
                        <a:t>2</a:t>
                      </a:r>
                    </a:p>
                  </a:txBody>
                  <a:tcPr/>
                </a:tc>
                <a:tc>
                  <a:txBody>
                    <a:bodyPr/>
                    <a:lstStyle/>
                    <a:p>
                      <a:r>
                        <a:rPr lang="en-GB" sz="1800" kern="1200" dirty="0">
                          <a:solidFill>
                            <a:schemeClr val="tx1"/>
                          </a:solidFill>
                          <a:effectLst/>
                          <a:latin typeface="+mn-lt"/>
                          <a:ea typeface="+mn-ea"/>
                          <a:cs typeface="+mn-cs"/>
                        </a:rPr>
                        <a:t>21</a:t>
                      </a:r>
                      <a:endParaRPr lang="en-GB" dirty="0"/>
                    </a:p>
                  </a:txBody>
                  <a:tcPr/>
                </a:tc>
                <a:tc>
                  <a:txBody>
                    <a:bodyPr/>
                    <a:lstStyle/>
                    <a:p>
                      <a:r>
                        <a:rPr lang="en-GB" sz="1800" b="0" kern="1200" dirty="0" err="1">
                          <a:solidFill>
                            <a:schemeClr val="tx1"/>
                          </a:solidFill>
                          <a:effectLst/>
                          <a:latin typeface="+mn-lt"/>
                          <a:ea typeface="+mn-ea"/>
                          <a:cs typeface="+mn-cs"/>
                        </a:rPr>
                        <a:t>vsftpd</a:t>
                      </a:r>
                      <a:r>
                        <a:rPr lang="en-GB" sz="1800" b="0" kern="1200" dirty="0">
                          <a:solidFill>
                            <a:schemeClr val="tx1"/>
                          </a:solidFill>
                          <a:effectLst/>
                          <a:latin typeface="+mn-lt"/>
                          <a:ea typeface="+mn-ea"/>
                          <a:cs typeface="+mn-cs"/>
                        </a:rPr>
                        <a:t> 2.3.4</a:t>
                      </a:r>
                      <a:endParaRPr lang="en-GB" b="0" dirty="0"/>
                    </a:p>
                  </a:txBody>
                  <a:tcPr/>
                </a:tc>
                <a:tc>
                  <a:txBody>
                    <a:bodyPr/>
                    <a:lstStyle/>
                    <a:p>
                      <a:r>
                        <a:rPr lang="en-GB" sz="1800" kern="1200" dirty="0">
                          <a:solidFill>
                            <a:schemeClr val="tx1"/>
                          </a:solidFill>
                          <a:effectLst/>
                          <a:latin typeface="+mn-lt"/>
                          <a:ea typeface="+mn-ea"/>
                          <a:cs typeface="+mn-cs"/>
                        </a:rPr>
                        <a:t>CVE-2011-2523</a:t>
                      </a:r>
                      <a:endParaRPr lang="en-GB" dirty="0"/>
                    </a:p>
                  </a:txBody>
                  <a:tcPr/>
                </a:tc>
                <a:tc>
                  <a:txBody>
                    <a:bodyPr/>
                    <a:lstStyle/>
                    <a:p>
                      <a:r>
                        <a:rPr lang="en-GB" sz="1800" b="0" kern="1200" dirty="0">
                          <a:solidFill>
                            <a:schemeClr val="tx1"/>
                          </a:solidFill>
                          <a:effectLst/>
                          <a:latin typeface="+mn-lt"/>
                          <a:ea typeface="+mn-ea"/>
                          <a:cs typeface="+mn-cs"/>
                        </a:rPr>
                        <a:t>10.0 (Crit)</a:t>
                      </a:r>
                      <a:endParaRPr lang="en-GB" b="0" dirty="0"/>
                    </a:p>
                  </a:txBody>
                  <a:tcPr/>
                </a:tc>
                <a:tc>
                  <a:txBody>
                    <a:bodyPr/>
                    <a:lstStyle/>
                    <a:p>
                      <a:r>
                        <a:rPr lang="en-US" sz="1800" b="0" kern="1200" dirty="0">
                          <a:solidFill>
                            <a:schemeClr val="tx1"/>
                          </a:solidFill>
                          <a:effectLst/>
                          <a:latin typeface="+mn-lt"/>
                          <a:ea typeface="+mn-ea"/>
                          <a:cs typeface="+mn-cs"/>
                        </a:rPr>
                        <a:t>Backdoor: </a:t>
                      </a:r>
                      <a:r>
                        <a:rPr lang="en-GB" sz="1800" b="0" kern="1200" dirty="0">
                          <a:solidFill>
                            <a:schemeClr val="tx1"/>
                          </a:solidFill>
                          <a:effectLst/>
                          <a:latin typeface="+mn-lt"/>
                          <a:ea typeface="+mn-ea"/>
                          <a:cs typeface="+mn-cs"/>
                        </a:rPr>
                        <a:t>Unauthorized remote shell access</a:t>
                      </a:r>
                      <a:r>
                        <a:rPr lang="en-US" sz="1800" b="0" kern="1200" dirty="0">
                          <a:solidFill>
                            <a:schemeClr val="tx1"/>
                          </a:solidFill>
                          <a:effectLst/>
                          <a:latin typeface="+mn-lt"/>
                          <a:ea typeface="+mn-ea"/>
                          <a:cs typeface="+mn-cs"/>
                        </a:rPr>
                        <a:t>.</a:t>
                      </a:r>
                      <a:endParaRPr lang="en-GB" b="0" dirty="0"/>
                    </a:p>
                  </a:txBody>
                  <a:tcPr/>
                </a:tc>
                <a:extLst>
                  <a:ext uri="{0D108BD9-81ED-4DB2-BD59-A6C34878D82A}">
                    <a16:rowId xmlns:a16="http://schemas.microsoft.com/office/drawing/2014/main" val="1229953516"/>
                  </a:ext>
                </a:extLst>
              </a:tr>
              <a:tr h="370840">
                <a:tc>
                  <a:txBody>
                    <a:bodyPr/>
                    <a:lstStyle/>
                    <a:p>
                      <a:r>
                        <a:rPr lang="en-GB" dirty="0"/>
                        <a:t>3</a:t>
                      </a:r>
                    </a:p>
                  </a:txBody>
                  <a:tcPr/>
                </a:tc>
                <a:tc>
                  <a:txBody>
                    <a:bodyPr/>
                    <a:lstStyle/>
                    <a:p>
                      <a:r>
                        <a:rPr lang="en-GB" sz="1800" kern="1200" dirty="0">
                          <a:solidFill>
                            <a:schemeClr val="tx1"/>
                          </a:solidFill>
                          <a:effectLst/>
                          <a:latin typeface="+mn-lt"/>
                          <a:ea typeface="+mn-ea"/>
                          <a:cs typeface="+mn-cs"/>
                        </a:rPr>
                        <a:t>1099</a:t>
                      </a:r>
                      <a:endParaRPr lang="en-GB" dirty="0"/>
                    </a:p>
                  </a:txBody>
                  <a:tcPr/>
                </a:tc>
                <a:tc>
                  <a:txBody>
                    <a:bodyPr/>
                    <a:lstStyle/>
                    <a:p>
                      <a:r>
                        <a:rPr lang="en-GB" sz="1800" b="0" kern="1200" dirty="0">
                          <a:solidFill>
                            <a:schemeClr val="tx1"/>
                          </a:solidFill>
                          <a:effectLst/>
                          <a:latin typeface="+mn-lt"/>
                          <a:ea typeface="+mn-ea"/>
                          <a:cs typeface="+mn-cs"/>
                        </a:rPr>
                        <a:t>Java RMI RCE</a:t>
                      </a:r>
                      <a:endParaRPr lang="en-GB" b="0" dirty="0"/>
                    </a:p>
                  </a:txBody>
                  <a:tcPr/>
                </a:tc>
                <a:tc>
                  <a:txBody>
                    <a:bodyPr/>
                    <a:lstStyle/>
                    <a:p>
                      <a:r>
                        <a:rPr lang="en-GB" sz="1800" kern="1200" dirty="0">
                          <a:solidFill>
                            <a:schemeClr val="tx1"/>
                          </a:solidFill>
                          <a:effectLst/>
                          <a:latin typeface="+mn-lt"/>
                          <a:ea typeface="+mn-ea"/>
                          <a:cs typeface="+mn-cs"/>
                        </a:rPr>
                        <a:t>CVE-2011-3556</a:t>
                      </a:r>
                      <a:endParaRPr lang="en-GB" dirty="0"/>
                    </a:p>
                  </a:txBody>
                  <a:tcPr/>
                </a:tc>
                <a:tc>
                  <a:txBody>
                    <a:bodyPr/>
                    <a:lstStyle/>
                    <a:p>
                      <a:r>
                        <a:rPr lang="en-GB" sz="1800" b="0" kern="1200" dirty="0">
                          <a:solidFill>
                            <a:schemeClr val="tx1"/>
                          </a:solidFill>
                          <a:effectLst/>
                          <a:latin typeface="+mn-lt"/>
                          <a:ea typeface="+mn-ea"/>
                          <a:cs typeface="+mn-cs"/>
                        </a:rPr>
                        <a:t>10.0 (Crit)</a:t>
                      </a:r>
                      <a:endParaRPr lang="en-GB" b="0" dirty="0"/>
                    </a:p>
                  </a:txBody>
                  <a:tcPr/>
                </a:tc>
                <a:tc>
                  <a:txBody>
                    <a:bodyPr/>
                    <a:lstStyle/>
                    <a:p>
                      <a:r>
                        <a:rPr lang="en-GB" sz="1800" b="0" kern="1200" dirty="0">
                          <a:solidFill>
                            <a:schemeClr val="tx1"/>
                          </a:solidFill>
                          <a:effectLst/>
                          <a:latin typeface="+mn-lt"/>
                          <a:ea typeface="+mn-ea"/>
                          <a:cs typeface="+mn-cs"/>
                        </a:rPr>
                        <a:t>Allows unauthenticated remote class loading.</a:t>
                      </a:r>
                      <a:endParaRPr lang="en-GB" b="0" dirty="0"/>
                    </a:p>
                  </a:txBody>
                  <a:tcPr/>
                </a:tc>
                <a:extLst>
                  <a:ext uri="{0D108BD9-81ED-4DB2-BD59-A6C34878D82A}">
                    <a16:rowId xmlns:a16="http://schemas.microsoft.com/office/drawing/2014/main" val="74386011"/>
                  </a:ext>
                </a:extLst>
              </a:tr>
              <a:tr h="370840">
                <a:tc>
                  <a:txBody>
                    <a:bodyPr/>
                    <a:lstStyle/>
                    <a:p>
                      <a:r>
                        <a:rPr lang="en-GB" dirty="0"/>
                        <a:t>4</a:t>
                      </a:r>
                    </a:p>
                  </a:txBody>
                  <a:tcPr/>
                </a:tc>
                <a:tc>
                  <a:txBody>
                    <a:bodyPr/>
                    <a:lstStyle/>
                    <a:p>
                      <a:r>
                        <a:rPr lang="en-GB" sz="1800" kern="1200" dirty="0">
                          <a:solidFill>
                            <a:schemeClr val="tx1"/>
                          </a:solidFill>
                          <a:effectLst/>
                          <a:latin typeface="+mn-lt"/>
                          <a:ea typeface="+mn-ea"/>
                          <a:cs typeface="+mn-cs"/>
                        </a:rPr>
                        <a:t>23</a:t>
                      </a:r>
                      <a:endParaRPr lang="en-GB" dirty="0"/>
                    </a:p>
                  </a:txBody>
                  <a:tcPr/>
                </a:tc>
                <a:tc>
                  <a:txBody>
                    <a:bodyPr/>
                    <a:lstStyle/>
                    <a:p>
                      <a:r>
                        <a:rPr lang="en-GB" sz="1800" b="0" kern="1200">
                          <a:solidFill>
                            <a:schemeClr val="tx1"/>
                          </a:solidFill>
                          <a:effectLst/>
                          <a:latin typeface="+mn-lt"/>
                          <a:ea typeface="+mn-ea"/>
                          <a:cs typeface="+mn-cs"/>
                        </a:rPr>
                        <a:t>Linux telnet</a:t>
                      </a:r>
                      <a:endParaRPr lang="en-GB" b="0" dirty="0"/>
                    </a:p>
                  </a:txBody>
                  <a:tcPr/>
                </a:tc>
                <a:tc>
                  <a:txBody>
                    <a:bodyPr/>
                    <a:lstStyle/>
                    <a:p>
                      <a:r>
                        <a:rPr lang="en-GB" sz="1800" kern="1200" dirty="0">
                          <a:solidFill>
                            <a:schemeClr val="tx1"/>
                          </a:solidFill>
                          <a:effectLst/>
                          <a:latin typeface="+mn-lt"/>
                          <a:ea typeface="+mn-ea"/>
                          <a:cs typeface="+mn-cs"/>
                        </a:rPr>
                        <a:t>CVE-2026-24061</a:t>
                      </a:r>
                      <a:endParaRPr lang="en-GB" dirty="0"/>
                    </a:p>
                  </a:txBody>
                  <a:tcPr/>
                </a:tc>
                <a:tc>
                  <a:txBody>
                    <a:bodyPr/>
                    <a:lstStyle/>
                    <a:p>
                      <a:r>
                        <a:rPr lang="en-GB" sz="1800" b="0" kern="1200" dirty="0">
                          <a:solidFill>
                            <a:schemeClr val="tx1"/>
                          </a:solidFill>
                          <a:effectLst/>
                          <a:latin typeface="+mn-lt"/>
                          <a:ea typeface="+mn-ea"/>
                          <a:cs typeface="+mn-cs"/>
                        </a:rPr>
                        <a:t>9.8 (Crit)</a:t>
                      </a:r>
                      <a:endParaRPr lang="en-GB" b="0" dirty="0"/>
                    </a:p>
                  </a:txBody>
                  <a:tcPr/>
                </a:tc>
                <a:tc>
                  <a:txBody>
                    <a:bodyPr/>
                    <a:lstStyle/>
                    <a:p>
                      <a:r>
                        <a:rPr lang="en-GB" sz="1800" b="0" kern="1200" dirty="0">
                          <a:solidFill>
                            <a:schemeClr val="tx1"/>
                          </a:solidFill>
                          <a:effectLst/>
                          <a:latin typeface="+mn-lt"/>
                          <a:ea typeface="+mn-ea"/>
                          <a:cs typeface="+mn-cs"/>
                        </a:rPr>
                        <a:t>Root Shell: Env variable injection</a:t>
                      </a:r>
                      <a:endParaRPr lang="en-GB" b="0" dirty="0"/>
                    </a:p>
                  </a:txBody>
                  <a:tcPr/>
                </a:tc>
                <a:extLst>
                  <a:ext uri="{0D108BD9-81ED-4DB2-BD59-A6C34878D82A}">
                    <a16:rowId xmlns:a16="http://schemas.microsoft.com/office/drawing/2014/main" val="1741848163"/>
                  </a:ext>
                </a:extLst>
              </a:tr>
              <a:tr h="370840">
                <a:tc>
                  <a:txBody>
                    <a:bodyPr/>
                    <a:lstStyle/>
                    <a:p>
                      <a:r>
                        <a:rPr lang="en-GB" dirty="0"/>
                        <a:t>5</a:t>
                      </a:r>
                    </a:p>
                  </a:txBody>
                  <a:tcPr/>
                </a:tc>
                <a:tc>
                  <a:txBody>
                    <a:bodyPr/>
                    <a:lstStyle/>
                    <a:p>
                      <a:r>
                        <a:rPr lang="en-GB" sz="1800" kern="1200" dirty="0">
                          <a:solidFill>
                            <a:schemeClr val="tx1"/>
                          </a:solidFill>
                          <a:effectLst/>
                          <a:latin typeface="+mn-lt"/>
                          <a:ea typeface="+mn-ea"/>
                          <a:cs typeface="+mn-cs"/>
                        </a:rPr>
                        <a:t>22</a:t>
                      </a:r>
                      <a:endParaRPr lang="en-GB" dirty="0"/>
                    </a:p>
                  </a:txBody>
                  <a:tcPr/>
                </a:tc>
                <a:tc>
                  <a:txBody>
                    <a:bodyPr/>
                    <a:lstStyle/>
                    <a:p>
                      <a:r>
                        <a:rPr lang="en-GB" sz="1800" b="0" kern="1200" dirty="0">
                          <a:solidFill>
                            <a:schemeClr val="tx1"/>
                          </a:solidFill>
                          <a:effectLst/>
                          <a:latin typeface="+mn-lt"/>
                          <a:ea typeface="+mn-ea"/>
                          <a:cs typeface="+mn-cs"/>
                        </a:rPr>
                        <a:t>OpenSSH 4.7p1</a:t>
                      </a:r>
                      <a:endParaRPr lang="en-GB" b="0" dirty="0"/>
                    </a:p>
                  </a:txBody>
                  <a:tcPr/>
                </a:tc>
                <a:tc>
                  <a:txBody>
                    <a:bodyPr/>
                    <a:lstStyle/>
                    <a:p>
                      <a:r>
                        <a:rPr lang="en-GB" sz="1800" kern="1200" dirty="0">
                          <a:solidFill>
                            <a:schemeClr val="tx1"/>
                          </a:solidFill>
                          <a:effectLst/>
                          <a:latin typeface="+mn-lt"/>
                          <a:ea typeface="+mn-ea"/>
                          <a:cs typeface="+mn-cs"/>
                        </a:rPr>
                        <a:t>CVE-2023-38408</a:t>
                      </a:r>
                      <a:endParaRPr lang="en-GB"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0" kern="1200" dirty="0">
                          <a:solidFill>
                            <a:schemeClr val="tx1"/>
                          </a:solidFill>
                          <a:effectLst/>
                          <a:latin typeface="+mn-lt"/>
                          <a:ea typeface="+mn-ea"/>
                          <a:cs typeface="+mn-cs"/>
                        </a:rPr>
                        <a:t>9.8 (Crit)</a:t>
                      </a:r>
                      <a:endParaRPr lang="en-GB" b="0" dirty="0">
                        <a:effectLst/>
                      </a:endParaRPr>
                    </a:p>
                  </a:txBody>
                  <a:tcPr/>
                </a:tc>
                <a:tc>
                  <a:txBody>
                    <a:bodyPr/>
                    <a:lstStyle/>
                    <a:p>
                      <a:r>
                        <a:rPr lang="en-GB" sz="1800" b="0" kern="1200" dirty="0">
                          <a:solidFill>
                            <a:schemeClr val="tx1"/>
                          </a:solidFill>
                          <a:effectLst/>
                          <a:latin typeface="+mn-lt"/>
                          <a:ea typeface="+mn-ea"/>
                          <a:cs typeface="+mn-cs"/>
                        </a:rPr>
                        <a:t>Remote Code Execution</a:t>
                      </a:r>
                      <a:endParaRPr lang="en-GB" b="0" dirty="0"/>
                    </a:p>
                  </a:txBody>
                  <a:tcPr/>
                </a:tc>
                <a:extLst>
                  <a:ext uri="{0D108BD9-81ED-4DB2-BD59-A6C34878D82A}">
                    <a16:rowId xmlns:a16="http://schemas.microsoft.com/office/drawing/2014/main" val="436304764"/>
                  </a:ext>
                </a:extLst>
              </a:tr>
              <a:tr h="370840">
                <a:tc>
                  <a:txBody>
                    <a:bodyPr/>
                    <a:lstStyle/>
                    <a:p>
                      <a:r>
                        <a:rPr lang="en-GB" dirty="0"/>
                        <a:t>6</a:t>
                      </a:r>
                    </a:p>
                  </a:txBody>
                  <a:tcPr/>
                </a:tc>
                <a:tc>
                  <a:txBody>
                    <a:bodyPr/>
                    <a:lstStyle/>
                    <a:p>
                      <a:r>
                        <a:rPr lang="en-GB" sz="1800" kern="1200" dirty="0">
                          <a:solidFill>
                            <a:schemeClr val="tx1"/>
                          </a:solidFill>
                          <a:effectLst/>
                          <a:latin typeface="+mn-lt"/>
                          <a:ea typeface="+mn-ea"/>
                          <a:cs typeface="+mn-cs"/>
                        </a:rPr>
                        <a:t>80</a:t>
                      </a:r>
                      <a:endParaRPr lang="en-GB" dirty="0"/>
                    </a:p>
                  </a:txBody>
                  <a:tcPr/>
                </a:tc>
                <a:tc>
                  <a:txBody>
                    <a:bodyPr/>
                    <a:lstStyle/>
                    <a:p>
                      <a:r>
                        <a:rPr lang="en-GB" sz="1800" b="0" kern="1200" dirty="0">
                          <a:solidFill>
                            <a:schemeClr val="tx1"/>
                          </a:solidFill>
                          <a:effectLst/>
                          <a:latin typeface="+mn-lt"/>
                          <a:ea typeface="+mn-ea"/>
                          <a:cs typeface="+mn-cs"/>
                        </a:rPr>
                        <a:t>Apache 2.2.8</a:t>
                      </a:r>
                      <a:endParaRPr lang="en-GB" b="0" dirty="0"/>
                    </a:p>
                  </a:txBody>
                  <a:tcPr/>
                </a:tc>
                <a:tc>
                  <a:txBody>
                    <a:bodyPr/>
                    <a:lstStyle/>
                    <a:p>
                      <a:r>
                        <a:rPr lang="en-GB" sz="1800" kern="1200" dirty="0">
                          <a:solidFill>
                            <a:schemeClr val="tx1"/>
                          </a:solidFill>
                          <a:effectLst/>
                          <a:latin typeface="+mn-lt"/>
                          <a:ea typeface="+mn-ea"/>
                          <a:cs typeface="+mn-cs"/>
                        </a:rPr>
                        <a:t>CVE-2008-0455</a:t>
                      </a:r>
                      <a:endParaRPr lang="en-GB" dirty="0"/>
                    </a:p>
                  </a:txBody>
                  <a:tcPr/>
                </a:tc>
                <a:tc>
                  <a:txBody>
                    <a:bodyPr/>
                    <a:lstStyle/>
                    <a:p>
                      <a:r>
                        <a:rPr lang="en-GB" sz="1800" b="0" kern="1200" dirty="0">
                          <a:solidFill>
                            <a:schemeClr val="tx1"/>
                          </a:solidFill>
                          <a:effectLst/>
                          <a:latin typeface="+mn-lt"/>
                          <a:ea typeface="+mn-ea"/>
                          <a:cs typeface="+mn-cs"/>
                        </a:rPr>
                        <a:t>7.5 (High)</a:t>
                      </a:r>
                      <a:endParaRPr lang="en-GB" b="0" dirty="0"/>
                    </a:p>
                  </a:txBody>
                  <a:tcPr/>
                </a:tc>
                <a:tc>
                  <a:txBody>
                    <a:bodyPr/>
                    <a:lstStyle/>
                    <a:p>
                      <a:r>
                        <a:rPr lang="en-GB" sz="1800" b="0" kern="1200" dirty="0">
                          <a:solidFill>
                            <a:schemeClr val="tx1"/>
                          </a:solidFill>
                          <a:effectLst/>
                          <a:latin typeface="+mn-lt"/>
                          <a:ea typeface="+mn-ea"/>
                          <a:cs typeface="+mn-cs"/>
                        </a:rPr>
                        <a:t>System Compromise</a:t>
                      </a:r>
                      <a:endParaRPr lang="en-GB" b="0" dirty="0"/>
                    </a:p>
                  </a:txBody>
                  <a:tcPr/>
                </a:tc>
                <a:extLst>
                  <a:ext uri="{0D108BD9-81ED-4DB2-BD59-A6C34878D82A}">
                    <a16:rowId xmlns:a16="http://schemas.microsoft.com/office/drawing/2014/main" val="1937799223"/>
                  </a:ext>
                </a:extLst>
              </a:tr>
              <a:tr h="370840">
                <a:tc>
                  <a:txBody>
                    <a:bodyPr/>
                    <a:lstStyle/>
                    <a:p>
                      <a:r>
                        <a:rPr lang="en-GB" dirty="0"/>
                        <a:t>7</a:t>
                      </a:r>
                    </a:p>
                  </a:txBody>
                  <a:tcPr/>
                </a:tc>
                <a:tc>
                  <a:txBody>
                    <a:bodyPr/>
                    <a:lstStyle/>
                    <a:p>
                      <a:r>
                        <a:rPr lang="en-GB" sz="1800" kern="1200" dirty="0">
                          <a:solidFill>
                            <a:schemeClr val="tx1"/>
                          </a:solidFill>
                          <a:effectLst/>
                          <a:latin typeface="+mn-lt"/>
                          <a:ea typeface="+mn-ea"/>
                          <a:cs typeface="+mn-cs"/>
                        </a:rPr>
                        <a:t>2049</a:t>
                      </a:r>
                      <a:endParaRPr lang="en-GB" dirty="0"/>
                    </a:p>
                  </a:txBody>
                  <a:tcPr/>
                </a:tc>
                <a:tc>
                  <a:txBody>
                    <a:bodyPr/>
                    <a:lstStyle/>
                    <a:p>
                      <a:r>
                        <a:rPr lang="en-GB" sz="1800" b="0" kern="1200" dirty="0">
                          <a:solidFill>
                            <a:schemeClr val="tx1"/>
                          </a:solidFill>
                          <a:effectLst/>
                          <a:latin typeface="+mn-lt"/>
                          <a:ea typeface="+mn-ea"/>
                          <a:cs typeface="+mn-cs"/>
                        </a:rPr>
                        <a:t>NFS </a:t>
                      </a:r>
                      <a:endParaRPr lang="en-GB" b="0" dirty="0"/>
                    </a:p>
                  </a:txBody>
                  <a:tcPr/>
                </a:tc>
                <a:tc>
                  <a:txBody>
                    <a:bodyPr/>
                    <a:lstStyle/>
                    <a:p>
                      <a:r>
                        <a:rPr lang="en-GB" sz="1800" kern="1200" dirty="0">
                          <a:solidFill>
                            <a:schemeClr val="tx1"/>
                          </a:solidFill>
                          <a:effectLst/>
                          <a:latin typeface="+mn-lt"/>
                          <a:ea typeface="+mn-ea"/>
                          <a:cs typeface="+mn-cs"/>
                        </a:rPr>
                        <a:t>CVE-1999-0554</a:t>
                      </a:r>
                      <a:endParaRPr lang="en-GB" dirty="0"/>
                    </a:p>
                  </a:txBody>
                  <a:tcPr/>
                </a:tc>
                <a:tc>
                  <a:txBody>
                    <a:bodyPr/>
                    <a:lstStyle/>
                    <a:p>
                      <a:r>
                        <a:rPr lang="en-GB" sz="1800" b="0" kern="1200" dirty="0">
                          <a:solidFill>
                            <a:schemeClr val="tx1"/>
                          </a:solidFill>
                          <a:effectLst/>
                          <a:latin typeface="+mn-lt"/>
                          <a:ea typeface="+mn-ea"/>
                          <a:cs typeface="+mn-cs"/>
                        </a:rPr>
                        <a:t>7.5 (High)</a:t>
                      </a:r>
                      <a:endParaRPr lang="en-GB" b="0" dirty="0"/>
                    </a:p>
                  </a:txBody>
                  <a:tcPr/>
                </a:tc>
                <a:tc>
                  <a:txBody>
                    <a:bodyPr/>
                    <a:lstStyle/>
                    <a:p>
                      <a:r>
                        <a:rPr lang="en-GB" sz="1800" b="0" kern="1200" dirty="0">
                          <a:solidFill>
                            <a:schemeClr val="tx1"/>
                          </a:solidFill>
                          <a:effectLst/>
                          <a:latin typeface="+mn-lt"/>
                          <a:ea typeface="+mn-ea"/>
                          <a:cs typeface="+mn-cs"/>
                        </a:rPr>
                        <a:t>File System Access: Unrestricted mounting</a:t>
                      </a:r>
                      <a:endParaRPr lang="en-GB" b="0" dirty="0"/>
                    </a:p>
                  </a:txBody>
                  <a:tcPr/>
                </a:tc>
                <a:extLst>
                  <a:ext uri="{0D108BD9-81ED-4DB2-BD59-A6C34878D82A}">
                    <a16:rowId xmlns:a16="http://schemas.microsoft.com/office/drawing/2014/main" val="342819056"/>
                  </a:ext>
                </a:extLst>
              </a:tr>
              <a:tr h="370840">
                <a:tc>
                  <a:txBody>
                    <a:bodyPr/>
                    <a:lstStyle/>
                    <a:p>
                      <a:r>
                        <a:rPr lang="en-GB" dirty="0"/>
                        <a:t>8</a:t>
                      </a:r>
                    </a:p>
                  </a:txBody>
                  <a:tcPr/>
                </a:tc>
                <a:tc>
                  <a:txBody>
                    <a:bodyPr/>
                    <a:lstStyle/>
                    <a:p>
                      <a:r>
                        <a:rPr lang="en-GB" sz="1800" kern="1200" dirty="0">
                          <a:solidFill>
                            <a:schemeClr val="tx1"/>
                          </a:solidFill>
                          <a:effectLst/>
                          <a:latin typeface="+mn-lt"/>
                          <a:ea typeface="+mn-ea"/>
                          <a:cs typeface="+mn-cs"/>
                        </a:rPr>
                        <a:t>5432</a:t>
                      </a:r>
                      <a:endParaRPr lang="en-GB" dirty="0"/>
                    </a:p>
                  </a:txBody>
                  <a:tcPr/>
                </a:tc>
                <a:tc>
                  <a:txBody>
                    <a:bodyPr/>
                    <a:lstStyle/>
                    <a:p>
                      <a:pPr rtl="0" eaLnBrk="1" latinLnBrk="0" hangingPunct="1"/>
                      <a:r>
                        <a:rPr lang="en-GB" sz="1800" b="0" kern="1200" dirty="0">
                          <a:solidFill>
                            <a:schemeClr val="tx1"/>
                          </a:solidFill>
                          <a:effectLst/>
                          <a:latin typeface="+mn-lt"/>
                          <a:ea typeface="+mn-ea"/>
                          <a:cs typeface="+mn-cs"/>
                        </a:rPr>
                        <a:t>PostgreSQL </a:t>
                      </a:r>
                      <a:endParaRPr lang="en-GB" b="0" dirty="0">
                        <a:effectLst/>
                      </a:endParaRPr>
                    </a:p>
                  </a:txBody>
                  <a:tcPr/>
                </a:tc>
                <a:tc>
                  <a:txBody>
                    <a:bodyPr/>
                    <a:lstStyle/>
                    <a:p>
                      <a:pPr rtl="0" eaLnBrk="1" latinLnBrk="0" hangingPunct="1"/>
                      <a:r>
                        <a:rPr lang="en-GB" sz="1800" kern="1200" dirty="0">
                          <a:solidFill>
                            <a:schemeClr val="tx1"/>
                          </a:solidFill>
                          <a:effectLst/>
                          <a:latin typeface="+mn-lt"/>
                          <a:ea typeface="+mn-ea"/>
                          <a:cs typeface="+mn-cs"/>
                        </a:rPr>
                        <a:t>CVE-2012-0868</a:t>
                      </a:r>
                      <a:endParaRPr lang="en-GB" dirty="0">
                        <a:effectLst/>
                      </a:endParaRPr>
                    </a:p>
                  </a:txBody>
                  <a:tcPr/>
                </a:tc>
                <a:tc>
                  <a:txBody>
                    <a:bodyPr/>
                    <a:lstStyle/>
                    <a:p>
                      <a:r>
                        <a:rPr lang="en-GB" sz="1800" b="0" kern="1200" dirty="0">
                          <a:solidFill>
                            <a:schemeClr val="tx1"/>
                          </a:solidFill>
                          <a:effectLst/>
                          <a:latin typeface="+mn-lt"/>
                          <a:ea typeface="+mn-ea"/>
                          <a:cs typeface="+mn-cs"/>
                        </a:rPr>
                        <a:t>6.8 (Med)</a:t>
                      </a:r>
                      <a:endParaRPr lang="en-GB" b="0" dirty="0"/>
                    </a:p>
                  </a:txBody>
                  <a:tcPr/>
                </a:tc>
                <a:tc>
                  <a:txBody>
                    <a:bodyPr/>
                    <a:lstStyle/>
                    <a:p>
                      <a:r>
                        <a:rPr lang="en-GB" sz="1800" b="0" kern="1200" dirty="0">
                          <a:solidFill>
                            <a:schemeClr val="tx1"/>
                          </a:solidFill>
                          <a:effectLst/>
                          <a:latin typeface="+mn-lt"/>
                          <a:ea typeface="+mn-ea"/>
                          <a:cs typeface="+mn-cs"/>
                        </a:rPr>
                        <a:t>SQL Injection</a:t>
                      </a:r>
                      <a:endParaRPr lang="en-GB" b="0" dirty="0"/>
                    </a:p>
                  </a:txBody>
                  <a:tcPr/>
                </a:tc>
                <a:extLst>
                  <a:ext uri="{0D108BD9-81ED-4DB2-BD59-A6C34878D82A}">
                    <a16:rowId xmlns:a16="http://schemas.microsoft.com/office/drawing/2014/main" val="2698157816"/>
                  </a:ext>
                </a:extLst>
              </a:tr>
              <a:tr h="370840">
                <a:tc>
                  <a:txBody>
                    <a:bodyPr/>
                    <a:lstStyle/>
                    <a:p>
                      <a:r>
                        <a:rPr lang="en-GB" dirty="0"/>
                        <a:t>9</a:t>
                      </a:r>
                    </a:p>
                  </a:txBody>
                  <a:tcPr/>
                </a:tc>
                <a:tc>
                  <a:txBody>
                    <a:bodyPr/>
                    <a:lstStyle/>
                    <a:p>
                      <a:r>
                        <a:rPr lang="en-GB" sz="1800" kern="1200" dirty="0">
                          <a:solidFill>
                            <a:schemeClr val="tx1"/>
                          </a:solidFill>
                          <a:effectLst/>
                          <a:latin typeface="+mn-lt"/>
                          <a:ea typeface="+mn-ea"/>
                          <a:cs typeface="+mn-cs"/>
                        </a:rPr>
                        <a:t>5432</a:t>
                      </a:r>
                      <a:endParaRPr lang="en-GB" dirty="0"/>
                    </a:p>
                  </a:txBody>
                  <a:tcPr/>
                </a:tc>
                <a:tc>
                  <a:txBody>
                    <a:bodyPr/>
                    <a:lstStyle/>
                    <a:p>
                      <a:r>
                        <a:rPr lang="en-GB" sz="1800" b="0" kern="1200" dirty="0">
                          <a:solidFill>
                            <a:schemeClr val="tx1"/>
                          </a:solidFill>
                          <a:effectLst/>
                          <a:latin typeface="+mn-lt"/>
                          <a:ea typeface="+mn-ea"/>
                          <a:cs typeface="+mn-cs"/>
                        </a:rPr>
                        <a:t>Logjam</a:t>
                      </a:r>
                      <a:endParaRPr lang="en-GB" b="0" dirty="0"/>
                    </a:p>
                  </a:txBody>
                  <a:tcPr/>
                </a:tc>
                <a:tc>
                  <a:txBody>
                    <a:bodyPr/>
                    <a:lstStyle/>
                    <a:p>
                      <a:r>
                        <a:rPr lang="en-GB" sz="1800" kern="1200" dirty="0">
                          <a:solidFill>
                            <a:schemeClr val="tx1"/>
                          </a:solidFill>
                          <a:effectLst/>
                          <a:latin typeface="+mn-lt"/>
                          <a:ea typeface="+mn-ea"/>
                          <a:cs typeface="+mn-cs"/>
                        </a:rPr>
                        <a:t>CVE-2015-4000</a:t>
                      </a:r>
                      <a:endParaRPr lang="en-GB" dirty="0"/>
                    </a:p>
                  </a:txBody>
                  <a:tcPr/>
                </a:tc>
                <a:tc>
                  <a:txBody>
                    <a:bodyPr/>
                    <a:lstStyle/>
                    <a:p>
                      <a:r>
                        <a:rPr lang="en-GB" sz="1800" b="0" kern="1200" dirty="0">
                          <a:solidFill>
                            <a:schemeClr val="tx1"/>
                          </a:solidFill>
                          <a:effectLst/>
                          <a:latin typeface="+mn-lt"/>
                          <a:ea typeface="+mn-ea"/>
                          <a:cs typeface="+mn-cs"/>
                        </a:rPr>
                        <a:t>5.9 (Med)</a:t>
                      </a:r>
                      <a:endParaRPr lang="en-GB" b="0" dirty="0"/>
                    </a:p>
                  </a:txBody>
                  <a:tcPr/>
                </a:tc>
                <a:tc>
                  <a:txBody>
                    <a:bodyPr/>
                    <a:lstStyle/>
                    <a:p>
                      <a:r>
                        <a:rPr lang="en-GB" sz="1800" b="0" kern="1200" dirty="0">
                          <a:solidFill>
                            <a:schemeClr val="tx1"/>
                          </a:solidFill>
                          <a:effectLst/>
                          <a:latin typeface="+mn-lt"/>
                          <a:ea typeface="+mn-ea"/>
                          <a:cs typeface="+mn-cs"/>
                        </a:rPr>
                        <a:t>Session decryption (512-bit keys).</a:t>
                      </a:r>
                      <a:endParaRPr lang="en-GB" b="0" dirty="0"/>
                    </a:p>
                  </a:txBody>
                  <a:tcPr/>
                </a:tc>
                <a:extLst>
                  <a:ext uri="{0D108BD9-81ED-4DB2-BD59-A6C34878D82A}">
                    <a16:rowId xmlns:a16="http://schemas.microsoft.com/office/drawing/2014/main" val="1820570648"/>
                  </a:ext>
                </a:extLst>
              </a:tr>
              <a:tr h="370840">
                <a:tc>
                  <a:txBody>
                    <a:bodyPr/>
                    <a:lstStyle/>
                    <a:p>
                      <a:r>
                        <a:rPr lang="en-GB" dirty="0"/>
                        <a:t>10</a:t>
                      </a:r>
                    </a:p>
                  </a:txBody>
                  <a:tcPr/>
                </a:tc>
                <a:tc>
                  <a:txBody>
                    <a:bodyPr/>
                    <a:lstStyle/>
                    <a:p>
                      <a:r>
                        <a:rPr lang="en-GB" sz="1800" kern="1200" dirty="0">
                          <a:solidFill>
                            <a:schemeClr val="tx1"/>
                          </a:solidFill>
                          <a:effectLst/>
                          <a:latin typeface="+mn-lt"/>
                          <a:ea typeface="+mn-ea"/>
                          <a:cs typeface="+mn-cs"/>
                        </a:rPr>
                        <a:t>3306</a:t>
                      </a:r>
                      <a:endParaRPr lang="en-GB" dirty="0"/>
                    </a:p>
                  </a:txBody>
                  <a:tcPr/>
                </a:tc>
                <a:tc>
                  <a:txBody>
                    <a:bodyPr/>
                    <a:lstStyle/>
                    <a:p>
                      <a:r>
                        <a:rPr lang="en-GB" sz="1800" b="0" kern="1200" dirty="0">
                          <a:solidFill>
                            <a:schemeClr val="tx1"/>
                          </a:solidFill>
                          <a:effectLst/>
                          <a:latin typeface="+mn-lt"/>
                          <a:ea typeface="+mn-ea"/>
                          <a:cs typeface="+mn-cs"/>
                        </a:rPr>
                        <a:t>MySQL</a:t>
                      </a:r>
                      <a:endParaRPr lang="en-GB" b="0" dirty="0"/>
                    </a:p>
                  </a:txBody>
                  <a:tcPr/>
                </a:tc>
                <a:tc>
                  <a:txBody>
                    <a:bodyPr/>
                    <a:lstStyle/>
                    <a:p>
                      <a:r>
                        <a:rPr lang="en-GB" sz="1800" u="none" kern="1200" dirty="0">
                          <a:solidFill>
                            <a:schemeClr val="tx1"/>
                          </a:solidFill>
                          <a:effectLst/>
                          <a:latin typeface="+mn-lt"/>
                          <a:ea typeface="+mn-ea"/>
                          <a:cs typeface="+mn-cs"/>
                        </a:rPr>
                        <a:t>CVE-2008-4097</a:t>
                      </a:r>
                      <a:endParaRPr lang="en-GB" u="none" dirty="0"/>
                    </a:p>
                  </a:txBody>
                  <a:tcPr/>
                </a:tc>
                <a:tc>
                  <a:txBody>
                    <a:bodyPr/>
                    <a:lstStyle/>
                    <a:p>
                      <a:r>
                        <a:rPr lang="en-GB" sz="1800" b="0" kern="1200" dirty="0">
                          <a:solidFill>
                            <a:schemeClr val="tx1"/>
                          </a:solidFill>
                          <a:effectLst/>
                          <a:latin typeface="+mn-lt"/>
                          <a:ea typeface="+mn-ea"/>
                          <a:cs typeface="+mn-cs"/>
                        </a:rPr>
                        <a:t>4.6 (Med)</a:t>
                      </a:r>
                      <a:endParaRPr lang="en-GB" b="0" dirty="0"/>
                    </a:p>
                  </a:txBody>
                  <a:tcPr/>
                </a:tc>
                <a:tc>
                  <a:txBody>
                    <a:bodyPr/>
                    <a:lstStyle/>
                    <a:p>
                      <a:r>
                        <a:rPr lang="en-GB" sz="1800" b="0" kern="1200" dirty="0">
                          <a:solidFill>
                            <a:schemeClr val="tx1"/>
                          </a:solidFill>
                          <a:effectLst/>
                          <a:latin typeface="+mn-lt"/>
                          <a:ea typeface="+mn-ea"/>
                          <a:cs typeface="+mn-cs"/>
                        </a:rPr>
                        <a:t>Bypass privilege checks for data directory.</a:t>
                      </a:r>
                      <a:endParaRPr lang="en-GB" b="0" dirty="0"/>
                    </a:p>
                  </a:txBody>
                  <a:tcPr/>
                </a:tc>
                <a:extLst>
                  <a:ext uri="{0D108BD9-81ED-4DB2-BD59-A6C34878D82A}">
                    <a16:rowId xmlns:a16="http://schemas.microsoft.com/office/drawing/2014/main" val="4231559346"/>
                  </a:ext>
                </a:extLst>
              </a:tr>
            </a:tbl>
          </a:graphicData>
        </a:graphic>
      </p:graphicFrame>
    </p:spTree>
    <p:extLst>
      <p:ext uri="{BB962C8B-B14F-4D97-AF65-F5344CB8AC3E}">
        <p14:creationId xmlns:p14="http://schemas.microsoft.com/office/powerpoint/2010/main" val="37162540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D463B-A20F-958F-72E9-01E062544CAA}"/>
              </a:ext>
            </a:extLst>
          </p:cNvPr>
          <p:cNvSpPr>
            <a:spLocks noGrp="1"/>
          </p:cNvSpPr>
          <p:nvPr>
            <p:ph type="title"/>
          </p:nvPr>
        </p:nvSpPr>
        <p:spPr>
          <a:xfrm>
            <a:off x="870735" y="200739"/>
            <a:ext cx="10515600" cy="960241"/>
          </a:xfrm>
        </p:spPr>
        <p:txBody>
          <a:bodyPr>
            <a:normAutofit fontScale="90000"/>
          </a:bodyPr>
          <a:lstStyle/>
          <a:p>
            <a:pPr algn="ctr"/>
            <a:r>
              <a:rPr lang="en-GB" dirty="0"/>
              <a:t>Exploitation of service - </a:t>
            </a:r>
            <a:r>
              <a:rPr lang="en-GB" dirty="0" err="1"/>
              <a:t>vsftpd</a:t>
            </a:r>
            <a:r>
              <a:rPr lang="en-GB" dirty="0"/>
              <a:t> 2.3.4</a:t>
            </a:r>
            <a:br>
              <a:rPr lang="en-GB" dirty="0">
                <a:effectLst/>
              </a:rPr>
            </a:br>
            <a:endParaRPr lang="en-GB" dirty="0"/>
          </a:p>
        </p:txBody>
      </p:sp>
      <p:pic>
        <p:nvPicPr>
          <p:cNvPr id="5" name="Content Placeholder 4">
            <a:extLst>
              <a:ext uri="{FF2B5EF4-FFF2-40B4-BE49-F238E27FC236}">
                <a16:creationId xmlns:a16="http://schemas.microsoft.com/office/drawing/2014/main" id="{D15548C6-E6FE-B615-77A6-D8B23ACE985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5209" y="1058238"/>
            <a:ext cx="11866652" cy="5702158"/>
          </a:xfrm>
          <a:prstGeom prst="rect">
            <a:avLst/>
          </a:prstGeom>
        </p:spPr>
      </p:pic>
    </p:spTree>
    <p:extLst>
      <p:ext uri="{BB962C8B-B14F-4D97-AF65-F5344CB8AC3E}">
        <p14:creationId xmlns:p14="http://schemas.microsoft.com/office/powerpoint/2010/main" val="4602484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BAFFD-AB71-3C3D-088C-CE3B527AA4EF}"/>
              </a:ext>
            </a:extLst>
          </p:cNvPr>
          <p:cNvSpPr>
            <a:spLocks noGrp="1"/>
          </p:cNvSpPr>
          <p:nvPr>
            <p:ph type="title"/>
          </p:nvPr>
        </p:nvSpPr>
        <p:spPr>
          <a:xfrm>
            <a:off x="838200" y="365125"/>
            <a:ext cx="10515600" cy="682839"/>
          </a:xfrm>
        </p:spPr>
        <p:txBody>
          <a:bodyPr>
            <a:normAutofit fontScale="90000"/>
          </a:bodyPr>
          <a:lstStyle/>
          <a:p>
            <a:pPr algn="ctr"/>
            <a:r>
              <a:rPr lang="en-GB" dirty="0" err="1"/>
              <a:t>vsftpd</a:t>
            </a:r>
            <a:r>
              <a:rPr lang="en-GB" dirty="0"/>
              <a:t> 2.3.4</a:t>
            </a:r>
          </a:p>
        </p:txBody>
      </p:sp>
      <p:pic>
        <p:nvPicPr>
          <p:cNvPr id="5" name="Content Placeholder 4">
            <a:extLst>
              <a:ext uri="{FF2B5EF4-FFF2-40B4-BE49-F238E27FC236}">
                <a16:creationId xmlns:a16="http://schemas.microsoft.com/office/drawing/2014/main" id="{3C19B74C-DBD6-9CF2-9298-9BA9DBCB03A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8710" y="1047964"/>
            <a:ext cx="11752054" cy="5661061"/>
          </a:xfrm>
          <a:prstGeom prst="rect">
            <a:avLst/>
          </a:prstGeom>
        </p:spPr>
      </p:pic>
    </p:spTree>
    <p:extLst>
      <p:ext uri="{BB962C8B-B14F-4D97-AF65-F5344CB8AC3E}">
        <p14:creationId xmlns:p14="http://schemas.microsoft.com/office/powerpoint/2010/main" val="18354083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B87A57-8658-299C-9C38-28CF26149EA1}"/>
              </a:ext>
            </a:extLst>
          </p:cNvPr>
          <p:cNvSpPr>
            <a:spLocks noGrp="1"/>
          </p:cNvSpPr>
          <p:nvPr>
            <p:ph type="title"/>
          </p:nvPr>
        </p:nvSpPr>
        <p:spPr>
          <a:xfrm>
            <a:off x="838200" y="365126"/>
            <a:ext cx="10515600" cy="754758"/>
          </a:xfrm>
        </p:spPr>
        <p:txBody>
          <a:bodyPr/>
          <a:lstStyle/>
          <a:p>
            <a:pPr algn="ctr"/>
            <a:r>
              <a:rPr lang="en-GB" dirty="0"/>
              <a:t>Post-Exploitation of </a:t>
            </a:r>
            <a:r>
              <a:rPr lang="en-GB" dirty="0" err="1"/>
              <a:t>vsftpd</a:t>
            </a:r>
            <a:r>
              <a:rPr lang="en-GB" dirty="0"/>
              <a:t> 2.3.4</a:t>
            </a:r>
          </a:p>
        </p:txBody>
      </p:sp>
      <p:pic>
        <p:nvPicPr>
          <p:cNvPr id="5" name="Content Placeholder 4">
            <a:extLst>
              <a:ext uri="{FF2B5EF4-FFF2-40B4-BE49-F238E27FC236}">
                <a16:creationId xmlns:a16="http://schemas.microsoft.com/office/drawing/2014/main" id="{DBF33461-A6C5-9780-89F4-55FAAFE5B89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4112" y="1119884"/>
            <a:ext cx="11866652" cy="5640512"/>
          </a:xfrm>
          <a:prstGeom prst="rect">
            <a:avLst/>
          </a:prstGeom>
        </p:spPr>
      </p:pic>
    </p:spTree>
    <p:extLst>
      <p:ext uri="{BB962C8B-B14F-4D97-AF65-F5344CB8AC3E}">
        <p14:creationId xmlns:p14="http://schemas.microsoft.com/office/powerpoint/2010/main" val="14548196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CB3EC7-A587-652E-6751-12FEB0196C7B}"/>
              </a:ext>
            </a:extLst>
          </p:cNvPr>
          <p:cNvSpPr>
            <a:spLocks noGrp="1"/>
          </p:cNvSpPr>
          <p:nvPr>
            <p:ph type="title"/>
          </p:nvPr>
        </p:nvSpPr>
        <p:spPr/>
        <p:txBody>
          <a:bodyPr/>
          <a:lstStyle/>
          <a:p>
            <a:endParaRPr lang="en-GB"/>
          </a:p>
        </p:txBody>
      </p:sp>
      <p:pic>
        <p:nvPicPr>
          <p:cNvPr id="5" name="Content Placeholder 4">
            <a:extLst>
              <a:ext uri="{FF2B5EF4-FFF2-40B4-BE49-F238E27FC236}">
                <a16:creationId xmlns:a16="http://schemas.microsoft.com/office/drawing/2014/main" id="{DD3CA9CE-723D-5647-60A2-E35612ABC26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3564" y="102742"/>
            <a:ext cx="11887200" cy="6678202"/>
          </a:xfrm>
          <a:prstGeom prst="rect">
            <a:avLst/>
          </a:prstGeom>
        </p:spPr>
      </p:pic>
    </p:spTree>
    <p:extLst>
      <p:ext uri="{BB962C8B-B14F-4D97-AF65-F5344CB8AC3E}">
        <p14:creationId xmlns:p14="http://schemas.microsoft.com/office/powerpoint/2010/main" val="25794385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3B1BAE-529C-8BC0-ED62-44268C0EC58F}"/>
              </a:ext>
            </a:extLst>
          </p:cNvPr>
          <p:cNvSpPr>
            <a:spLocks noGrp="1"/>
          </p:cNvSpPr>
          <p:nvPr>
            <p:ph type="title"/>
          </p:nvPr>
        </p:nvSpPr>
        <p:spPr/>
        <p:txBody>
          <a:bodyPr/>
          <a:lstStyle/>
          <a:p>
            <a:endParaRPr lang="en-GB"/>
          </a:p>
        </p:txBody>
      </p:sp>
      <p:pic>
        <p:nvPicPr>
          <p:cNvPr id="5" name="Content Placeholder 4">
            <a:extLst>
              <a:ext uri="{FF2B5EF4-FFF2-40B4-BE49-F238E27FC236}">
                <a16:creationId xmlns:a16="http://schemas.microsoft.com/office/drawing/2014/main" id="{9E217F3C-859C-2594-C84B-6F575B0C1E3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8710" y="365125"/>
            <a:ext cx="11752054" cy="6333626"/>
          </a:xfrm>
          <a:prstGeom prst="rect">
            <a:avLst/>
          </a:prstGeom>
        </p:spPr>
      </p:pic>
    </p:spTree>
    <p:extLst>
      <p:ext uri="{BB962C8B-B14F-4D97-AF65-F5344CB8AC3E}">
        <p14:creationId xmlns:p14="http://schemas.microsoft.com/office/powerpoint/2010/main" val="36549338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61F157-4855-B2FB-E8DE-DEDBE31C33C2}"/>
              </a:ext>
            </a:extLst>
          </p:cNvPr>
          <p:cNvSpPr>
            <a:spLocks noGrp="1"/>
          </p:cNvSpPr>
          <p:nvPr>
            <p:ph type="title"/>
          </p:nvPr>
        </p:nvSpPr>
        <p:spPr/>
        <p:txBody>
          <a:bodyPr/>
          <a:lstStyle/>
          <a:p>
            <a:endParaRPr lang="en-GB"/>
          </a:p>
        </p:txBody>
      </p:sp>
      <p:pic>
        <p:nvPicPr>
          <p:cNvPr id="5" name="Content Placeholder 4">
            <a:extLst>
              <a:ext uri="{FF2B5EF4-FFF2-40B4-BE49-F238E27FC236}">
                <a16:creationId xmlns:a16="http://schemas.microsoft.com/office/drawing/2014/main" id="{5FD14DD8-0FB4-5A13-4D10-B3DB7EA78E8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 y="236306"/>
            <a:ext cx="11979667" cy="6472719"/>
          </a:xfrm>
          <a:prstGeom prst="rect">
            <a:avLst/>
          </a:prstGeom>
        </p:spPr>
      </p:pic>
    </p:spTree>
    <p:extLst>
      <p:ext uri="{BB962C8B-B14F-4D97-AF65-F5344CB8AC3E}">
        <p14:creationId xmlns:p14="http://schemas.microsoft.com/office/powerpoint/2010/main" val="26874361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E8BCF6-E1C7-BB37-78E5-ED1C71D71C99}"/>
              </a:ext>
            </a:extLst>
          </p:cNvPr>
          <p:cNvSpPr>
            <a:spLocks noGrp="1"/>
          </p:cNvSpPr>
          <p:nvPr>
            <p:ph type="title"/>
          </p:nvPr>
        </p:nvSpPr>
        <p:spPr/>
        <p:txBody>
          <a:bodyPr/>
          <a:lstStyle/>
          <a:p>
            <a:endParaRPr lang="en-GB"/>
          </a:p>
        </p:txBody>
      </p:sp>
      <p:pic>
        <p:nvPicPr>
          <p:cNvPr id="5" name="Content Placeholder 4">
            <a:extLst>
              <a:ext uri="{FF2B5EF4-FFF2-40B4-BE49-F238E27FC236}">
                <a16:creationId xmlns:a16="http://schemas.microsoft.com/office/drawing/2014/main" id="{78DC1962-FF53-DE5B-1BA2-069C2A5B8C6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3015" y="365125"/>
            <a:ext cx="11938571" cy="6364448"/>
          </a:xfrm>
          <a:prstGeom prst="rect">
            <a:avLst/>
          </a:prstGeom>
        </p:spPr>
      </p:pic>
    </p:spTree>
    <p:extLst>
      <p:ext uri="{BB962C8B-B14F-4D97-AF65-F5344CB8AC3E}">
        <p14:creationId xmlns:p14="http://schemas.microsoft.com/office/powerpoint/2010/main" val="12643038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F6BB13-DF04-D26F-3BCE-E7C6BC595F6B}"/>
              </a:ext>
            </a:extLst>
          </p:cNvPr>
          <p:cNvSpPr>
            <a:spLocks noGrp="1"/>
          </p:cNvSpPr>
          <p:nvPr>
            <p:ph type="title"/>
          </p:nvPr>
        </p:nvSpPr>
        <p:spPr/>
        <p:txBody>
          <a:bodyPr/>
          <a:lstStyle/>
          <a:p>
            <a:endParaRPr lang="en-GB"/>
          </a:p>
        </p:txBody>
      </p:sp>
      <p:pic>
        <p:nvPicPr>
          <p:cNvPr id="5" name="Content Placeholder 4">
            <a:extLst>
              <a:ext uri="{FF2B5EF4-FFF2-40B4-BE49-F238E27FC236}">
                <a16:creationId xmlns:a16="http://schemas.microsoft.com/office/drawing/2014/main" id="{DF1B37FF-0024-4547-61F9-F2089C6A28D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8710" y="365125"/>
            <a:ext cx="11741780" cy="6354174"/>
          </a:xfrm>
          <a:prstGeom prst="rect">
            <a:avLst/>
          </a:prstGeom>
        </p:spPr>
      </p:pic>
    </p:spTree>
    <p:extLst>
      <p:ext uri="{BB962C8B-B14F-4D97-AF65-F5344CB8AC3E}">
        <p14:creationId xmlns:p14="http://schemas.microsoft.com/office/powerpoint/2010/main" val="31950993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13363-DDD8-3C15-D96F-50161F971CA1}"/>
              </a:ext>
            </a:extLst>
          </p:cNvPr>
          <p:cNvSpPr>
            <a:spLocks noGrp="1"/>
          </p:cNvSpPr>
          <p:nvPr>
            <p:ph type="title"/>
          </p:nvPr>
        </p:nvSpPr>
        <p:spPr/>
        <p:txBody>
          <a:bodyPr/>
          <a:lstStyle/>
          <a:p>
            <a:endParaRPr lang="en-GB"/>
          </a:p>
        </p:txBody>
      </p:sp>
      <p:pic>
        <p:nvPicPr>
          <p:cNvPr id="5" name="Content Placeholder 4">
            <a:extLst>
              <a:ext uri="{FF2B5EF4-FFF2-40B4-BE49-F238E27FC236}">
                <a16:creationId xmlns:a16="http://schemas.microsoft.com/office/drawing/2014/main" id="{BB11DC75-FDEA-599D-3274-ED704B6C61C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3015" y="174661"/>
            <a:ext cx="11979667" cy="6544638"/>
          </a:xfrm>
          <a:prstGeom prst="rect">
            <a:avLst/>
          </a:prstGeom>
        </p:spPr>
      </p:pic>
    </p:spTree>
    <p:extLst>
      <p:ext uri="{BB962C8B-B14F-4D97-AF65-F5344CB8AC3E}">
        <p14:creationId xmlns:p14="http://schemas.microsoft.com/office/powerpoint/2010/main" val="37239057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398493-773C-5AF3-1641-F5A0A22F9AC5}"/>
              </a:ext>
            </a:extLst>
          </p:cNvPr>
          <p:cNvSpPr>
            <a:spLocks noGrp="1"/>
          </p:cNvSpPr>
          <p:nvPr>
            <p:ph type="title"/>
          </p:nvPr>
        </p:nvSpPr>
        <p:spPr>
          <a:xfrm>
            <a:off x="838200" y="365125"/>
            <a:ext cx="10515600" cy="836951"/>
          </a:xfrm>
        </p:spPr>
        <p:txBody>
          <a:bodyPr/>
          <a:lstStyle/>
          <a:p>
            <a:pPr algn="ctr"/>
            <a:r>
              <a:rPr lang="en-GB" dirty="0"/>
              <a:t>Exploitation of service – Apache Tomcat</a:t>
            </a:r>
          </a:p>
        </p:txBody>
      </p:sp>
      <p:pic>
        <p:nvPicPr>
          <p:cNvPr id="5" name="Content Placeholder 4">
            <a:extLst>
              <a:ext uri="{FF2B5EF4-FFF2-40B4-BE49-F238E27FC236}">
                <a16:creationId xmlns:a16="http://schemas.microsoft.com/office/drawing/2014/main" id="{CE86FEF7-B8B1-DEBD-8598-9C4927E62F5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03434" y="1202076"/>
            <a:ext cx="11352944" cy="5435030"/>
          </a:xfrm>
          <a:prstGeom prst="rect">
            <a:avLst/>
          </a:prstGeom>
        </p:spPr>
      </p:pic>
    </p:spTree>
    <p:extLst>
      <p:ext uri="{BB962C8B-B14F-4D97-AF65-F5344CB8AC3E}">
        <p14:creationId xmlns:p14="http://schemas.microsoft.com/office/powerpoint/2010/main" val="21699072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8B13F-8FAC-9EC9-CC25-1A18A9476A06}"/>
              </a:ext>
            </a:extLst>
          </p:cNvPr>
          <p:cNvSpPr>
            <a:spLocks noGrp="1"/>
          </p:cNvSpPr>
          <p:nvPr>
            <p:ph type="title"/>
          </p:nvPr>
        </p:nvSpPr>
        <p:spPr/>
        <p:txBody>
          <a:bodyPr/>
          <a:lstStyle/>
          <a:p>
            <a:endParaRPr lang="en-GB"/>
          </a:p>
        </p:txBody>
      </p:sp>
      <p:pic>
        <p:nvPicPr>
          <p:cNvPr id="5" name="Content Placeholder 4">
            <a:extLst>
              <a:ext uri="{FF2B5EF4-FFF2-40B4-BE49-F238E27FC236}">
                <a16:creationId xmlns:a16="http://schemas.microsoft.com/office/drawing/2014/main" id="{17B57A97-BA17-01B4-DD15-A8BA1FC74FF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62337" y="365126"/>
            <a:ext cx="11486508" cy="6282254"/>
          </a:xfrm>
          <a:prstGeom prst="rect">
            <a:avLst/>
          </a:prstGeom>
        </p:spPr>
      </p:pic>
    </p:spTree>
    <p:extLst>
      <p:ext uri="{BB962C8B-B14F-4D97-AF65-F5344CB8AC3E}">
        <p14:creationId xmlns:p14="http://schemas.microsoft.com/office/powerpoint/2010/main" val="16032858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CB958C-6C9B-8E06-3CC8-977B2FD17868}"/>
              </a:ext>
            </a:extLst>
          </p:cNvPr>
          <p:cNvSpPr>
            <a:spLocks noGrp="1"/>
          </p:cNvSpPr>
          <p:nvPr>
            <p:ph type="title"/>
          </p:nvPr>
        </p:nvSpPr>
        <p:spPr/>
        <p:txBody>
          <a:bodyPr/>
          <a:lstStyle/>
          <a:p>
            <a:endParaRPr lang="en-GB"/>
          </a:p>
        </p:txBody>
      </p:sp>
      <p:pic>
        <p:nvPicPr>
          <p:cNvPr id="5" name="Content Placeholder 4">
            <a:extLst>
              <a:ext uri="{FF2B5EF4-FFF2-40B4-BE49-F238E27FC236}">
                <a16:creationId xmlns:a16="http://schemas.microsoft.com/office/drawing/2014/main" id="{8E1ACDC3-C721-2540-40EB-916E84B9C1F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4661" y="365124"/>
            <a:ext cx="11938570" cy="6292529"/>
          </a:xfrm>
          <a:prstGeom prst="rect">
            <a:avLst/>
          </a:prstGeom>
        </p:spPr>
      </p:pic>
    </p:spTree>
    <p:extLst>
      <p:ext uri="{BB962C8B-B14F-4D97-AF65-F5344CB8AC3E}">
        <p14:creationId xmlns:p14="http://schemas.microsoft.com/office/powerpoint/2010/main" val="61328510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F85D33-7071-EB15-C932-5ED7E0B33BF6}"/>
              </a:ext>
            </a:extLst>
          </p:cNvPr>
          <p:cNvSpPr>
            <a:spLocks noGrp="1"/>
          </p:cNvSpPr>
          <p:nvPr>
            <p:ph type="title"/>
          </p:nvPr>
        </p:nvSpPr>
        <p:spPr/>
        <p:txBody>
          <a:bodyPr/>
          <a:lstStyle/>
          <a:p>
            <a:endParaRPr lang="en-GB"/>
          </a:p>
        </p:txBody>
      </p:sp>
      <p:pic>
        <p:nvPicPr>
          <p:cNvPr id="5" name="Content Placeholder 4">
            <a:extLst>
              <a:ext uri="{FF2B5EF4-FFF2-40B4-BE49-F238E27FC236}">
                <a16:creationId xmlns:a16="http://schemas.microsoft.com/office/drawing/2014/main" id="{9AF073D4-70B7-E15E-C707-1AEC2DA5940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3290" y="365124"/>
            <a:ext cx="11918022" cy="6313077"/>
          </a:xfrm>
          <a:prstGeom prst="rect">
            <a:avLst/>
          </a:prstGeom>
        </p:spPr>
      </p:pic>
    </p:spTree>
    <p:extLst>
      <p:ext uri="{BB962C8B-B14F-4D97-AF65-F5344CB8AC3E}">
        <p14:creationId xmlns:p14="http://schemas.microsoft.com/office/powerpoint/2010/main" val="183595649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E3F9C3-680E-3DB4-4B61-D07B0D585947}"/>
              </a:ext>
            </a:extLst>
          </p:cNvPr>
          <p:cNvSpPr>
            <a:spLocks noGrp="1"/>
          </p:cNvSpPr>
          <p:nvPr>
            <p:ph type="title"/>
          </p:nvPr>
        </p:nvSpPr>
        <p:spPr/>
        <p:txBody>
          <a:bodyPr/>
          <a:lstStyle/>
          <a:p>
            <a:endParaRPr lang="en-GB"/>
          </a:p>
        </p:txBody>
      </p:sp>
      <p:pic>
        <p:nvPicPr>
          <p:cNvPr id="5" name="Content Placeholder 4">
            <a:extLst>
              <a:ext uri="{FF2B5EF4-FFF2-40B4-BE49-F238E27FC236}">
                <a16:creationId xmlns:a16="http://schemas.microsoft.com/office/drawing/2014/main" id="{E033332E-4834-2E2D-9F42-C4D80631E6D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8709" y="365125"/>
            <a:ext cx="11803425" cy="6343900"/>
          </a:xfrm>
          <a:prstGeom prst="rect">
            <a:avLst/>
          </a:prstGeom>
        </p:spPr>
      </p:pic>
    </p:spTree>
    <p:extLst>
      <p:ext uri="{BB962C8B-B14F-4D97-AF65-F5344CB8AC3E}">
        <p14:creationId xmlns:p14="http://schemas.microsoft.com/office/powerpoint/2010/main" val="241839841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0BF53E-4371-9BC9-F5B1-328D57EEAC8F}"/>
              </a:ext>
            </a:extLst>
          </p:cNvPr>
          <p:cNvSpPr>
            <a:spLocks noGrp="1"/>
          </p:cNvSpPr>
          <p:nvPr>
            <p:ph type="title"/>
          </p:nvPr>
        </p:nvSpPr>
        <p:spPr/>
        <p:txBody>
          <a:bodyPr/>
          <a:lstStyle/>
          <a:p>
            <a:endParaRPr lang="en-GB"/>
          </a:p>
        </p:txBody>
      </p:sp>
      <p:pic>
        <p:nvPicPr>
          <p:cNvPr id="5" name="Content Placeholder 4">
            <a:extLst>
              <a:ext uri="{FF2B5EF4-FFF2-40B4-BE49-F238E27FC236}">
                <a16:creationId xmlns:a16="http://schemas.microsoft.com/office/drawing/2014/main" id="{30A325EE-F5CF-8182-BB0D-08BE54D40EC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3015" y="365125"/>
            <a:ext cx="11989941" cy="6384996"/>
          </a:xfrm>
          <a:prstGeom prst="rect">
            <a:avLst/>
          </a:prstGeom>
        </p:spPr>
      </p:pic>
    </p:spTree>
    <p:extLst>
      <p:ext uri="{BB962C8B-B14F-4D97-AF65-F5344CB8AC3E}">
        <p14:creationId xmlns:p14="http://schemas.microsoft.com/office/powerpoint/2010/main" val="174655793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2BD54F-960B-1A8D-722E-17D50BA64727}"/>
              </a:ext>
            </a:extLst>
          </p:cNvPr>
          <p:cNvSpPr>
            <a:spLocks noGrp="1"/>
          </p:cNvSpPr>
          <p:nvPr>
            <p:ph type="title"/>
          </p:nvPr>
        </p:nvSpPr>
        <p:spPr>
          <a:xfrm>
            <a:off x="838200" y="365126"/>
            <a:ext cx="10515600" cy="641742"/>
          </a:xfrm>
        </p:spPr>
        <p:txBody>
          <a:bodyPr>
            <a:normAutofit fontScale="90000"/>
          </a:bodyPr>
          <a:lstStyle/>
          <a:p>
            <a:r>
              <a:rPr lang="en-GB" dirty="0"/>
              <a:t>Post exploitation of service – Apache Tomcat</a:t>
            </a:r>
          </a:p>
        </p:txBody>
      </p:sp>
      <p:pic>
        <p:nvPicPr>
          <p:cNvPr id="5" name="Content Placeholder 4">
            <a:extLst>
              <a:ext uri="{FF2B5EF4-FFF2-40B4-BE49-F238E27FC236}">
                <a16:creationId xmlns:a16="http://schemas.microsoft.com/office/drawing/2014/main" id="{362C5DA1-F720-43A2-6347-666169A8260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 y="1006868"/>
            <a:ext cx="12072135" cy="5753528"/>
          </a:xfrm>
          <a:prstGeom prst="rect">
            <a:avLst/>
          </a:prstGeom>
        </p:spPr>
      </p:pic>
    </p:spTree>
    <p:extLst>
      <p:ext uri="{BB962C8B-B14F-4D97-AF65-F5344CB8AC3E}">
        <p14:creationId xmlns:p14="http://schemas.microsoft.com/office/powerpoint/2010/main" val="282517108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7E2D7-3EF8-E6B4-26C2-417C28007CF1}"/>
              </a:ext>
            </a:extLst>
          </p:cNvPr>
          <p:cNvSpPr>
            <a:spLocks noGrp="1"/>
          </p:cNvSpPr>
          <p:nvPr>
            <p:ph type="title"/>
          </p:nvPr>
        </p:nvSpPr>
        <p:spPr/>
        <p:txBody>
          <a:bodyPr/>
          <a:lstStyle/>
          <a:p>
            <a:endParaRPr lang="en-GB"/>
          </a:p>
        </p:txBody>
      </p:sp>
      <p:pic>
        <p:nvPicPr>
          <p:cNvPr id="5" name="Content Placeholder 4">
            <a:extLst>
              <a:ext uri="{FF2B5EF4-FFF2-40B4-BE49-F238E27FC236}">
                <a16:creationId xmlns:a16="http://schemas.microsoft.com/office/drawing/2014/main" id="{8F67E68A-4CFB-725E-0803-BF6A3323281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3289" y="365125"/>
            <a:ext cx="11959119" cy="6364448"/>
          </a:xfrm>
          <a:prstGeom prst="rect">
            <a:avLst/>
          </a:prstGeom>
        </p:spPr>
      </p:pic>
    </p:spTree>
    <p:extLst>
      <p:ext uri="{BB962C8B-B14F-4D97-AF65-F5344CB8AC3E}">
        <p14:creationId xmlns:p14="http://schemas.microsoft.com/office/powerpoint/2010/main" val="410718337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6A8A77-C288-C1DB-B0EA-E27190F496B6}"/>
              </a:ext>
            </a:extLst>
          </p:cNvPr>
          <p:cNvSpPr>
            <a:spLocks noGrp="1"/>
          </p:cNvSpPr>
          <p:nvPr>
            <p:ph type="title"/>
          </p:nvPr>
        </p:nvSpPr>
        <p:spPr/>
        <p:txBody>
          <a:bodyPr/>
          <a:lstStyle/>
          <a:p>
            <a:endParaRPr lang="en-GB"/>
          </a:p>
        </p:txBody>
      </p:sp>
      <p:pic>
        <p:nvPicPr>
          <p:cNvPr id="5" name="Content Placeholder 4">
            <a:extLst>
              <a:ext uri="{FF2B5EF4-FFF2-40B4-BE49-F238E27FC236}">
                <a16:creationId xmlns:a16="http://schemas.microsoft.com/office/drawing/2014/main" id="{2EB026B4-E85A-47C7-FE3B-BFF454D5C04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2193" y="365124"/>
            <a:ext cx="12010490" cy="6415819"/>
          </a:xfrm>
          <a:prstGeom prst="rect">
            <a:avLst/>
          </a:prstGeom>
        </p:spPr>
      </p:pic>
    </p:spTree>
    <p:extLst>
      <p:ext uri="{BB962C8B-B14F-4D97-AF65-F5344CB8AC3E}">
        <p14:creationId xmlns:p14="http://schemas.microsoft.com/office/powerpoint/2010/main" val="349190836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98F11-CC38-2E38-F8A8-7996A7CCABD2}"/>
              </a:ext>
            </a:extLst>
          </p:cNvPr>
          <p:cNvSpPr>
            <a:spLocks noGrp="1"/>
          </p:cNvSpPr>
          <p:nvPr>
            <p:ph type="title"/>
          </p:nvPr>
        </p:nvSpPr>
        <p:spPr>
          <a:xfrm>
            <a:off x="838200" y="365126"/>
            <a:ext cx="10515600" cy="888322"/>
          </a:xfrm>
        </p:spPr>
        <p:txBody>
          <a:bodyPr/>
          <a:lstStyle/>
          <a:p>
            <a:r>
              <a:rPr lang="en-GB" dirty="0"/>
              <a:t>Exploitation of service – Samba(SMB)</a:t>
            </a:r>
          </a:p>
        </p:txBody>
      </p:sp>
      <p:pic>
        <p:nvPicPr>
          <p:cNvPr id="5" name="Content Placeholder 4">
            <a:extLst>
              <a:ext uri="{FF2B5EF4-FFF2-40B4-BE49-F238E27FC236}">
                <a16:creationId xmlns:a16="http://schemas.microsoft.com/office/drawing/2014/main" id="{5DC7F560-F17C-3B67-827E-2B96DA97028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089060"/>
            <a:ext cx="12192000" cy="5768939"/>
          </a:xfrm>
          <a:prstGeom prst="rect">
            <a:avLst/>
          </a:prstGeom>
        </p:spPr>
      </p:pic>
    </p:spTree>
    <p:extLst>
      <p:ext uri="{BB962C8B-B14F-4D97-AF65-F5344CB8AC3E}">
        <p14:creationId xmlns:p14="http://schemas.microsoft.com/office/powerpoint/2010/main" val="329766765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09527F-8EB1-2AE1-2C44-B406F2306FF4}"/>
              </a:ext>
            </a:extLst>
          </p:cNvPr>
          <p:cNvSpPr>
            <a:spLocks noGrp="1"/>
          </p:cNvSpPr>
          <p:nvPr>
            <p:ph type="title"/>
          </p:nvPr>
        </p:nvSpPr>
        <p:spPr/>
        <p:txBody>
          <a:bodyPr/>
          <a:lstStyle/>
          <a:p>
            <a:endParaRPr lang="en-GB"/>
          </a:p>
        </p:txBody>
      </p:sp>
      <p:pic>
        <p:nvPicPr>
          <p:cNvPr id="5" name="Content Placeholder 4">
            <a:extLst>
              <a:ext uri="{FF2B5EF4-FFF2-40B4-BE49-F238E27FC236}">
                <a16:creationId xmlns:a16="http://schemas.microsoft.com/office/drawing/2014/main" id="{69EC61CB-04F9-0F7C-624B-DBC87CAA69C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452062"/>
            <a:ext cx="12192000" cy="6405937"/>
          </a:xfrm>
          <a:prstGeom prst="rect">
            <a:avLst/>
          </a:prstGeom>
        </p:spPr>
      </p:pic>
    </p:spTree>
    <p:extLst>
      <p:ext uri="{BB962C8B-B14F-4D97-AF65-F5344CB8AC3E}">
        <p14:creationId xmlns:p14="http://schemas.microsoft.com/office/powerpoint/2010/main" val="42465821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07046F-8DD2-C3E4-9FAB-8F9201D4E058}"/>
              </a:ext>
            </a:extLst>
          </p:cNvPr>
          <p:cNvSpPr>
            <a:spLocks noGrp="1"/>
          </p:cNvSpPr>
          <p:nvPr>
            <p:ph type="title"/>
          </p:nvPr>
        </p:nvSpPr>
        <p:spPr>
          <a:xfrm>
            <a:off x="838200" y="241836"/>
            <a:ext cx="10515600" cy="641742"/>
          </a:xfrm>
        </p:spPr>
        <p:txBody>
          <a:bodyPr>
            <a:normAutofit fontScale="90000"/>
          </a:bodyPr>
          <a:lstStyle/>
          <a:p>
            <a:pPr algn="ctr"/>
            <a:r>
              <a:rPr lang="en-GB" dirty="0"/>
              <a:t>Post-Exploitation of Samba (SMB)</a:t>
            </a:r>
          </a:p>
        </p:txBody>
      </p:sp>
      <p:pic>
        <p:nvPicPr>
          <p:cNvPr id="5" name="Content Placeholder 4">
            <a:extLst>
              <a:ext uri="{FF2B5EF4-FFF2-40B4-BE49-F238E27FC236}">
                <a16:creationId xmlns:a16="http://schemas.microsoft.com/office/drawing/2014/main" id="{22083202-C783-44A0-04AF-2E990A90230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2467" y="791110"/>
            <a:ext cx="12000216" cy="5979560"/>
          </a:xfrm>
          <a:prstGeom prst="rect">
            <a:avLst/>
          </a:prstGeom>
        </p:spPr>
      </p:pic>
    </p:spTree>
    <p:extLst>
      <p:ext uri="{BB962C8B-B14F-4D97-AF65-F5344CB8AC3E}">
        <p14:creationId xmlns:p14="http://schemas.microsoft.com/office/powerpoint/2010/main" val="94856213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92185F-C4E3-5421-ABDC-7BF343B0C55F}"/>
              </a:ext>
            </a:extLst>
          </p:cNvPr>
          <p:cNvSpPr>
            <a:spLocks noGrp="1"/>
          </p:cNvSpPr>
          <p:nvPr>
            <p:ph type="title"/>
          </p:nvPr>
        </p:nvSpPr>
        <p:spPr/>
        <p:txBody>
          <a:bodyPr/>
          <a:lstStyle/>
          <a:p>
            <a:endParaRPr lang="en-GB"/>
          </a:p>
        </p:txBody>
      </p:sp>
      <p:pic>
        <p:nvPicPr>
          <p:cNvPr id="5" name="Content Placeholder 4">
            <a:extLst>
              <a:ext uri="{FF2B5EF4-FFF2-40B4-BE49-F238E27FC236}">
                <a16:creationId xmlns:a16="http://schemas.microsoft.com/office/drawing/2014/main" id="{B1936D27-FF4C-837F-3CDD-C855E1BE7F7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8710" y="246580"/>
            <a:ext cx="11762328" cy="6513815"/>
          </a:xfrm>
          <a:prstGeom prst="rect">
            <a:avLst/>
          </a:prstGeom>
        </p:spPr>
      </p:pic>
    </p:spTree>
    <p:extLst>
      <p:ext uri="{BB962C8B-B14F-4D97-AF65-F5344CB8AC3E}">
        <p14:creationId xmlns:p14="http://schemas.microsoft.com/office/powerpoint/2010/main" val="79192754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4F3FB7-AF81-F1E1-776F-22F3416FB40F}"/>
              </a:ext>
            </a:extLst>
          </p:cNvPr>
          <p:cNvSpPr>
            <a:spLocks noGrp="1"/>
          </p:cNvSpPr>
          <p:nvPr>
            <p:ph type="title"/>
          </p:nvPr>
        </p:nvSpPr>
        <p:spPr/>
        <p:txBody>
          <a:bodyPr/>
          <a:lstStyle/>
          <a:p>
            <a:endParaRPr lang="en-GB"/>
          </a:p>
        </p:txBody>
      </p:sp>
      <p:pic>
        <p:nvPicPr>
          <p:cNvPr id="5" name="Content Placeholder 4">
            <a:extLst>
              <a:ext uri="{FF2B5EF4-FFF2-40B4-BE49-F238E27FC236}">
                <a16:creationId xmlns:a16="http://schemas.microsoft.com/office/drawing/2014/main" id="{C27CFAC2-FF18-90CB-2BDF-FA0E51B0913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2193" y="365124"/>
            <a:ext cx="12000216" cy="6492875"/>
          </a:xfrm>
          <a:prstGeom prst="rect">
            <a:avLst/>
          </a:prstGeom>
        </p:spPr>
      </p:pic>
    </p:spTree>
    <p:extLst>
      <p:ext uri="{BB962C8B-B14F-4D97-AF65-F5344CB8AC3E}">
        <p14:creationId xmlns:p14="http://schemas.microsoft.com/office/powerpoint/2010/main" val="165489838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9D045E-05A8-D6EA-EBD2-D99FB095A35C}"/>
              </a:ext>
            </a:extLst>
          </p:cNvPr>
          <p:cNvSpPr>
            <a:spLocks noGrp="1"/>
          </p:cNvSpPr>
          <p:nvPr>
            <p:ph type="title"/>
          </p:nvPr>
        </p:nvSpPr>
        <p:spPr/>
        <p:txBody>
          <a:bodyPr/>
          <a:lstStyle/>
          <a:p>
            <a:endParaRPr lang="en-GB"/>
          </a:p>
        </p:txBody>
      </p:sp>
      <p:pic>
        <p:nvPicPr>
          <p:cNvPr id="7" name="Content Placeholder 6">
            <a:extLst>
              <a:ext uri="{FF2B5EF4-FFF2-40B4-BE49-F238E27FC236}">
                <a16:creationId xmlns:a16="http://schemas.microsoft.com/office/drawing/2014/main" id="{2B9A92DB-B61B-6CE3-55F1-48F4EACFE48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3563" y="452063"/>
            <a:ext cx="11928297" cy="6287784"/>
          </a:xfrm>
          <a:prstGeom prst="rect">
            <a:avLst/>
          </a:prstGeom>
        </p:spPr>
      </p:pic>
    </p:spTree>
    <p:extLst>
      <p:ext uri="{BB962C8B-B14F-4D97-AF65-F5344CB8AC3E}">
        <p14:creationId xmlns:p14="http://schemas.microsoft.com/office/powerpoint/2010/main" val="369987352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CF1651-2590-BD27-6609-BF6C6BCE8542}"/>
              </a:ext>
            </a:extLst>
          </p:cNvPr>
          <p:cNvSpPr>
            <a:spLocks noGrp="1"/>
          </p:cNvSpPr>
          <p:nvPr>
            <p:ph type="title"/>
          </p:nvPr>
        </p:nvSpPr>
        <p:spPr>
          <a:xfrm>
            <a:off x="838200" y="252109"/>
            <a:ext cx="10515600" cy="703387"/>
          </a:xfrm>
        </p:spPr>
        <p:txBody>
          <a:bodyPr/>
          <a:lstStyle/>
          <a:p>
            <a:pPr algn="ctr"/>
            <a:r>
              <a:rPr lang="en-GB" dirty="0"/>
              <a:t>Exploitation of service – MySQL</a:t>
            </a:r>
          </a:p>
        </p:txBody>
      </p:sp>
      <p:pic>
        <p:nvPicPr>
          <p:cNvPr id="5" name="Content Placeholder 4">
            <a:extLst>
              <a:ext uri="{FF2B5EF4-FFF2-40B4-BE49-F238E27FC236}">
                <a16:creationId xmlns:a16="http://schemas.microsoft.com/office/drawing/2014/main" id="{FBA89B43-E799-BE2E-3F12-EBE6C77FD9F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873303"/>
            <a:ext cx="12192000" cy="5845996"/>
          </a:xfrm>
          <a:prstGeom prst="rect">
            <a:avLst/>
          </a:prstGeom>
        </p:spPr>
      </p:pic>
    </p:spTree>
    <p:extLst>
      <p:ext uri="{BB962C8B-B14F-4D97-AF65-F5344CB8AC3E}">
        <p14:creationId xmlns:p14="http://schemas.microsoft.com/office/powerpoint/2010/main" val="112739803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37112-9C57-AABF-62FF-1BA73DA59174}"/>
              </a:ext>
            </a:extLst>
          </p:cNvPr>
          <p:cNvSpPr>
            <a:spLocks noGrp="1"/>
          </p:cNvSpPr>
          <p:nvPr>
            <p:ph type="title"/>
          </p:nvPr>
        </p:nvSpPr>
        <p:spPr/>
        <p:txBody>
          <a:bodyPr/>
          <a:lstStyle/>
          <a:p>
            <a:endParaRPr lang="en-GB" dirty="0"/>
          </a:p>
        </p:txBody>
      </p:sp>
      <p:pic>
        <p:nvPicPr>
          <p:cNvPr id="5" name="Content Placeholder 4">
            <a:extLst>
              <a:ext uri="{FF2B5EF4-FFF2-40B4-BE49-F238E27FC236}">
                <a16:creationId xmlns:a16="http://schemas.microsoft.com/office/drawing/2014/main" id="{FDC0D13A-E6BA-FDA5-3B26-490D7A36714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365124"/>
            <a:ext cx="12192000" cy="6492875"/>
          </a:xfrm>
          <a:prstGeom prst="rect">
            <a:avLst/>
          </a:prstGeom>
        </p:spPr>
      </p:pic>
    </p:spTree>
    <p:extLst>
      <p:ext uri="{BB962C8B-B14F-4D97-AF65-F5344CB8AC3E}">
        <p14:creationId xmlns:p14="http://schemas.microsoft.com/office/powerpoint/2010/main" val="425890274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F4FC5-C1E0-0610-A832-8A8839962068}"/>
              </a:ext>
            </a:extLst>
          </p:cNvPr>
          <p:cNvSpPr>
            <a:spLocks noGrp="1"/>
          </p:cNvSpPr>
          <p:nvPr>
            <p:ph type="title"/>
          </p:nvPr>
        </p:nvSpPr>
        <p:spPr/>
        <p:txBody>
          <a:bodyPr/>
          <a:lstStyle/>
          <a:p>
            <a:endParaRPr lang="en-GB"/>
          </a:p>
        </p:txBody>
      </p:sp>
      <p:pic>
        <p:nvPicPr>
          <p:cNvPr id="7" name="Content Placeholder 6">
            <a:extLst>
              <a:ext uri="{FF2B5EF4-FFF2-40B4-BE49-F238E27FC236}">
                <a16:creationId xmlns:a16="http://schemas.microsoft.com/office/drawing/2014/main" id="{155FA8D3-C796-3F77-A22F-A77B35A1770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365124"/>
            <a:ext cx="12192000" cy="6405545"/>
          </a:xfrm>
          <a:prstGeom prst="rect">
            <a:avLst/>
          </a:prstGeom>
        </p:spPr>
      </p:pic>
    </p:spTree>
    <p:extLst>
      <p:ext uri="{BB962C8B-B14F-4D97-AF65-F5344CB8AC3E}">
        <p14:creationId xmlns:p14="http://schemas.microsoft.com/office/powerpoint/2010/main" val="384706403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808E15-5E1E-5437-EA48-314460FAFA75}"/>
              </a:ext>
            </a:extLst>
          </p:cNvPr>
          <p:cNvSpPr>
            <a:spLocks noGrp="1"/>
          </p:cNvSpPr>
          <p:nvPr>
            <p:ph type="title"/>
          </p:nvPr>
        </p:nvSpPr>
        <p:spPr/>
        <p:txBody>
          <a:bodyPr/>
          <a:lstStyle/>
          <a:p>
            <a:endParaRPr lang="en-GB"/>
          </a:p>
        </p:txBody>
      </p:sp>
      <p:pic>
        <p:nvPicPr>
          <p:cNvPr id="5" name="Content Placeholder 4">
            <a:extLst>
              <a:ext uri="{FF2B5EF4-FFF2-40B4-BE49-F238E27FC236}">
                <a16:creationId xmlns:a16="http://schemas.microsoft.com/office/drawing/2014/main" id="{9D7B4BA2-4911-C2EF-309A-02B34992F09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1919" y="365124"/>
            <a:ext cx="12120081" cy="6492875"/>
          </a:xfrm>
          <a:prstGeom prst="rect">
            <a:avLst/>
          </a:prstGeom>
        </p:spPr>
      </p:pic>
    </p:spTree>
    <p:extLst>
      <p:ext uri="{BB962C8B-B14F-4D97-AF65-F5344CB8AC3E}">
        <p14:creationId xmlns:p14="http://schemas.microsoft.com/office/powerpoint/2010/main" val="177367580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90922-ECB0-AEB7-F76E-6F5B98601389}"/>
              </a:ext>
            </a:extLst>
          </p:cNvPr>
          <p:cNvSpPr>
            <a:spLocks noGrp="1"/>
          </p:cNvSpPr>
          <p:nvPr>
            <p:ph type="title"/>
          </p:nvPr>
        </p:nvSpPr>
        <p:spPr>
          <a:xfrm>
            <a:off x="838200" y="221288"/>
            <a:ext cx="10515600" cy="631468"/>
          </a:xfrm>
        </p:spPr>
        <p:txBody>
          <a:bodyPr>
            <a:normAutofit fontScale="90000"/>
          </a:bodyPr>
          <a:lstStyle/>
          <a:p>
            <a:pPr algn="ctr"/>
            <a:r>
              <a:rPr lang="en-GB" dirty="0"/>
              <a:t>Post-Exploitation of MySQL</a:t>
            </a:r>
          </a:p>
        </p:txBody>
      </p:sp>
      <p:pic>
        <p:nvPicPr>
          <p:cNvPr id="5" name="Content Placeholder 4">
            <a:extLst>
              <a:ext uri="{FF2B5EF4-FFF2-40B4-BE49-F238E27FC236}">
                <a16:creationId xmlns:a16="http://schemas.microsoft.com/office/drawing/2014/main" id="{C03016D8-3590-B5DD-695E-138E43ADDA4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852756"/>
            <a:ext cx="12192000" cy="5887091"/>
          </a:xfrm>
          <a:prstGeom prst="rect">
            <a:avLst/>
          </a:prstGeom>
        </p:spPr>
      </p:pic>
    </p:spTree>
    <p:extLst>
      <p:ext uri="{BB962C8B-B14F-4D97-AF65-F5344CB8AC3E}">
        <p14:creationId xmlns:p14="http://schemas.microsoft.com/office/powerpoint/2010/main" val="339136386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651C5-B019-854C-1CFD-C6688F3AE059}"/>
              </a:ext>
            </a:extLst>
          </p:cNvPr>
          <p:cNvSpPr>
            <a:spLocks noGrp="1"/>
          </p:cNvSpPr>
          <p:nvPr>
            <p:ph type="title"/>
          </p:nvPr>
        </p:nvSpPr>
        <p:spPr/>
        <p:txBody>
          <a:bodyPr/>
          <a:lstStyle/>
          <a:p>
            <a:endParaRPr lang="en-GB"/>
          </a:p>
        </p:txBody>
      </p:sp>
      <p:pic>
        <p:nvPicPr>
          <p:cNvPr id="5" name="Content Placeholder 4">
            <a:extLst>
              <a:ext uri="{FF2B5EF4-FFF2-40B4-BE49-F238E27FC236}">
                <a16:creationId xmlns:a16="http://schemas.microsoft.com/office/drawing/2014/main" id="{DD53343E-1A65-038C-7AC3-62D3F30FE49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1919" y="365124"/>
            <a:ext cx="12041312" cy="6492875"/>
          </a:xfrm>
          <a:prstGeom prst="rect">
            <a:avLst/>
          </a:prstGeom>
        </p:spPr>
      </p:pic>
    </p:spTree>
    <p:extLst>
      <p:ext uri="{BB962C8B-B14F-4D97-AF65-F5344CB8AC3E}">
        <p14:creationId xmlns:p14="http://schemas.microsoft.com/office/powerpoint/2010/main" val="274309188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861EF9-D82E-615B-0F29-64B168973F26}"/>
              </a:ext>
            </a:extLst>
          </p:cNvPr>
          <p:cNvSpPr>
            <a:spLocks noGrp="1"/>
          </p:cNvSpPr>
          <p:nvPr>
            <p:ph type="title"/>
          </p:nvPr>
        </p:nvSpPr>
        <p:spPr/>
        <p:txBody>
          <a:bodyPr/>
          <a:lstStyle/>
          <a:p>
            <a:endParaRPr lang="en-GB"/>
          </a:p>
        </p:txBody>
      </p:sp>
      <p:pic>
        <p:nvPicPr>
          <p:cNvPr id="5" name="Content Placeholder 4">
            <a:extLst>
              <a:ext uri="{FF2B5EF4-FFF2-40B4-BE49-F238E27FC236}">
                <a16:creationId xmlns:a16="http://schemas.microsoft.com/office/drawing/2014/main" id="{BB6BA864-B222-3516-B4D0-62E087122B9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3289" y="365124"/>
            <a:ext cx="11938571" cy="6492875"/>
          </a:xfrm>
          <a:prstGeom prst="rect">
            <a:avLst/>
          </a:prstGeom>
        </p:spPr>
      </p:pic>
    </p:spTree>
    <p:extLst>
      <p:ext uri="{BB962C8B-B14F-4D97-AF65-F5344CB8AC3E}">
        <p14:creationId xmlns:p14="http://schemas.microsoft.com/office/powerpoint/2010/main" val="48758012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1FA58F4-67ED-ABB7-66D2-28D4298C756C}"/>
              </a:ext>
            </a:extLst>
          </p:cNvPr>
          <p:cNvSpPr>
            <a:spLocks noGrp="1"/>
          </p:cNvSpPr>
          <p:nvPr>
            <p:ph type="title"/>
          </p:nvPr>
        </p:nvSpPr>
        <p:spPr>
          <a:xfrm>
            <a:off x="686834" y="1153572"/>
            <a:ext cx="3200400" cy="4461163"/>
          </a:xfrm>
        </p:spPr>
        <p:txBody>
          <a:bodyPr>
            <a:normAutofit/>
          </a:bodyPr>
          <a:lstStyle/>
          <a:p>
            <a:r>
              <a:rPr lang="en-GB" sz="4100">
                <a:solidFill>
                  <a:srgbClr val="FFFFFF"/>
                </a:solidFill>
              </a:rPr>
              <a:t>Impact of Vulnerabilities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7F447EA8-D230-8EDC-2C46-C8216A969570}"/>
              </a:ext>
            </a:extLst>
          </p:cNvPr>
          <p:cNvSpPr>
            <a:spLocks noGrp="1"/>
          </p:cNvSpPr>
          <p:nvPr>
            <p:ph idx="1"/>
          </p:nvPr>
        </p:nvSpPr>
        <p:spPr>
          <a:xfrm>
            <a:off x="4447308" y="591344"/>
            <a:ext cx="6906491" cy="5585619"/>
          </a:xfrm>
        </p:spPr>
        <p:txBody>
          <a:bodyPr anchor="ctr">
            <a:normAutofit/>
          </a:bodyPr>
          <a:lstStyle/>
          <a:p>
            <a:r>
              <a:rPr lang="en-GB" sz="2000"/>
              <a:t>Business</a:t>
            </a:r>
          </a:p>
          <a:p>
            <a:pPr marL="0" indent="0">
              <a:buNone/>
            </a:pPr>
            <a:r>
              <a:rPr lang="en-GB" sz="2000"/>
              <a:t>The vulnerabilities identified present significant risks to business operations, data security, and organisational reputation. If exploited in a production environment, these weaknesses could allow attackers to gain full control of the system and access sensitive information.</a:t>
            </a:r>
          </a:p>
          <a:p>
            <a:r>
              <a:rPr lang="en-GB" sz="2000"/>
              <a:t>Data Breach Risk</a:t>
            </a:r>
          </a:p>
          <a:p>
            <a:pPr marL="0" indent="0">
              <a:buNone/>
            </a:pPr>
            <a:r>
              <a:rPr lang="en-GB" sz="2000"/>
              <a:t>Attackers gaining root-level access could access confidential data stored on the system, including databases, user credentials, and internal documents. This could lead to data leakage, regulatory violations, and loss of customer trust.</a:t>
            </a:r>
          </a:p>
          <a:p>
            <a:r>
              <a:rPr lang="en-GB" sz="2000"/>
              <a:t>Operational Disruption</a:t>
            </a:r>
          </a:p>
          <a:p>
            <a:pPr marL="0" indent="0">
              <a:buNone/>
            </a:pPr>
            <a:r>
              <a:rPr lang="en-GB" sz="2000"/>
              <a:t>Compromised systems could be used to disrupt business services. Attackers may shut down servers, delete critical files, or alter system configurations, resulting in downtime and loss of productivity.</a:t>
            </a:r>
          </a:p>
          <a:p>
            <a:pPr marL="0" indent="0">
              <a:buNone/>
            </a:pPr>
            <a:endParaRPr lang="en-GB" sz="2000"/>
          </a:p>
          <a:p>
            <a:endParaRPr lang="en-GB" sz="2000"/>
          </a:p>
        </p:txBody>
      </p:sp>
    </p:spTree>
    <p:extLst>
      <p:ext uri="{BB962C8B-B14F-4D97-AF65-F5344CB8AC3E}">
        <p14:creationId xmlns:p14="http://schemas.microsoft.com/office/powerpoint/2010/main" val="339160169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FFC21EE8-BC76-E10E-8018-67313E23EBC4}"/>
              </a:ext>
            </a:extLst>
          </p:cNvPr>
          <p:cNvSpPr>
            <a:spLocks noGrp="1"/>
          </p:cNvSpPr>
          <p:nvPr>
            <p:ph idx="1"/>
          </p:nvPr>
        </p:nvSpPr>
        <p:spPr>
          <a:xfrm>
            <a:off x="4447308" y="591344"/>
            <a:ext cx="6906491" cy="5585619"/>
          </a:xfrm>
        </p:spPr>
        <p:txBody>
          <a:bodyPr anchor="ctr">
            <a:normAutofit/>
          </a:bodyPr>
          <a:lstStyle/>
          <a:p>
            <a:r>
              <a:rPr lang="en-GB" sz="1800"/>
              <a:t>Financial Loss</a:t>
            </a:r>
          </a:p>
          <a:p>
            <a:pPr marL="0" indent="0">
              <a:buNone/>
            </a:pPr>
            <a:r>
              <a:rPr lang="en-GB" sz="1800"/>
              <a:t>Security incidents often lead to financial costs related to Incident response and investigation, system recovery and restoration, legal penalties for data protection violations and potential compensation for affected customers.</a:t>
            </a:r>
          </a:p>
          <a:p>
            <a:r>
              <a:rPr lang="en-GB" sz="1800"/>
              <a:t>Reputational Damage</a:t>
            </a:r>
          </a:p>
          <a:p>
            <a:pPr marL="0" indent="0">
              <a:buNone/>
            </a:pPr>
            <a:r>
              <a:rPr lang="en-GB" sz="1800"/>
              <a:t>A successful cyberattack can significantly damage an organisation's reputation. Customers and partners may lose confidence in the organisation's ability to protect sensitive information.</a:t>
            </a:r>
          </a:p>
          <a:p>
            <a:r>
              <a:rPr lang="en-GB" sz="1800"/>
              <a:t>Lateral Movement Within the Network</a:t>
            </a:r>
          </a:p>
          <a:p>
            <a:pPr marL="0" indent="0">
              <a:buNone/>
            </a:pPr>
            <a:r>
              <a:rPr lang="en-GB" sz="1800"/>
              <a:t>Once attackers obtain root access, they may use the compromised system as a pivot point to attack other systems within the internal network. This could result in a broader compromise of the organisation's infrastructure.</a:t>
            </a:r>
          </a:p>
          <a:p>
            <a:r>
              <a:rPr lang="en-GB" sz="1800"/>
              <a:t>Malware Deployment</a:t>
            </a:r>
          </a:p>
          <a:p>
            <a:pPr marL="0" indent="0">
              <a:buNone/>
            </a:pPr>
            <a:r>
              <a:rPr lang="en-GB" sz="1800"/>
              <a:t>Attackers could install malicious software such as ransomware, spyware, or backdoors. This may allow continued unauthorized access or enable attackers to demand payment to restore systems.</a:t>
            </a:r>
          </a:p>
          <a:p>
            <a:pPr marL="0" indent="0">
              <a:buNone/>
            </a:pPr>
            <a:endParaRPr lang="en-GB" sz="1800"/>
          </a:p>
          <a:p>
            <a:pPr marL="0" indent="0">
              <a:buNone/>
            </a:pPr>
            <a:endParaRPr lang="en-GB" sz="1800"/>
          </a:p>
          <a:p>
            <a:pPr marL="0" indent="0">
              <a:buNone/>
            </a:pPr>
            <a:endParaRPr lang="en-GB" sz="1800"/>
          </a:p>
          <a:p>
            <a:endParaRPr lang="en-GB" sz="1800"/>
          </a:p>
        </p:txBody>
      </p:sp>
    </p:spTree>
    <p:extLst>
      <p:ext uri="{BB962C8B-B14F-4D97-AF65-F5344CB8AC3E}">
        <p14:creationId xmlns:p14="http://schemas.microsoft.com/office/powerpoint/2010/main" val="68716336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BCE564F-775D-34FB-DEFE-F82AE2B61FC4}"/>
              </a:ext>
            </a:extLst>
          </p:cNvPr>
          <p:cNvSpPr>
            <a:spLocks noGrp="1"/>
          </p:cNvSpPr>
          <p:nvPr>
            <p:ph type="title"/>
          </p:nvPr>
        </p:nvSpPr>
        <p:spPr>
          <a:xfrm>
            <a:off x="686834" y="1153572"/>
            <a:ext cx="3200400" cy="4461163"/>
          </a:xfrm>
        </p:spPr>
        <p:txBody>
          <a:bodyPr>
            <a:normAutofit/>
          </a:bodyPr>
          <a:lstStyle/>
          <a:p>
            <a:r>
              <a:rPr lang="en-GB" sz="3100">
                <a:solidFill>
                  <a:srgbClr val="FFFFFF"/>
                </a:solidFill>
              </a:rPr>
              <a:t>Recommendations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42115BD9-6036-F2D4-8301-74096C1626AD}"/>
              </a:ext>
            </a:extLst>
          </p:cNvPr>
          <p:cNvSpPr>
            <a:spLocks noGrp="1"/>
          </p:cNvSpPr>
          <p:nvPr>
            <p:ph idx="1"/>
          </p:nvPr>
        </p:nvSpPr>
        <p:spPr>
          <a:xfrm>
            <a:off x="4447308" y="591344"/>
            <a:ext cx="6906491" cy="5585619"/>
          </a:xfrm>
        </p:spPr>
        <p:txBody>
          <a:bodyPr anchor="ctr">
            <a:normAutofit/>
          </a:bodyPr>
          <a:lstStyle/>
          <a:p>
            <a:pPr marL="0" indent="0">
              <a:buNone/>
            </a:pPr>
            <a:r>
              <a:rPr lang="en-GB" sz="1800"/>
              <a:t>To improve the security posture of the system, the following actions are recommended:</a:t>
            </a:r>
          </a:p>
          <a:p>
            <a:pPr marL="0" indent="0">
              <a:buNone/>
            </a:pPr>
            <a:r>
              <a:rPr lang="en-GB" sz="1800"/>
              <a:t>1. Remove Backdoors. Immediately disable the root </a:t>
            </a:r>
            <a:r>
              <a:rPr lang="en-GB" sz="1800" err="1"/>
              <a:t>bindshell</a:t>
            </a:r>
            <a:r>
              <a:rPr lang="en-GB" sz="1800"/>
              <a:t> on port 1524</a:t>
            </a:r>
          </a:p>
          <a:p>
            <a:pPr marL="0" indent="0">
              <a:buNone/>
            </a:pPr>
            <a:r>
              <a:rPr lang="en-GB" sz="1800"/>
              <a:t>2. Update Vulnerable Software such as </a:t>
            </a:r>
            <a:r>
              <a:rPr lang="en-GB" sz="1800" err="1"/>
              <a:t>vsftpd</a:t>
            </a:r>
            <a:r>
              <a:rPr lang="en-GB" sz="1800"/>
              <a:t>, Samba, Apache Tomcat, MySQL</a:t>
            </a:r>
          </a:p>
          <a:p>
            <a:pPr marL="0" indent="0">
              <a:buNone/>
            </a:pPr>
            <a:r>
              <a:rPr lang="en-GB" sz="1800"/>
              <a:t>3. Disable Insecure Services. Telnet should be replaced with secure alternatives like SSH.</a:t>
            </a:r>
          </a:p>
          <a:p>
            <a:pPr marL="0" indent="0">
              <a:buNone/>
            </a:pPr>
            <a:r>
              <a:rPr lang="en-GB" sz="1800"/>
              <a:t>4. Implement Network Segmentation.</a:t>
            </a:r>
          </a:p>
          <a:p>
            <a:pPr marL="0" indent="0">
              <a:buNone/>
            </a:pPr>
            <a:r>
              <a:rPr lang="en-GB" sz="1800"/>
              <a:t>5. Strong Authentication of strong password sand multi-factor authentication</a:t>
            </a:r>
          </a:p>
          <a:p>
            <a:pPr marL="0" indent="0">
              <a:buNone/>
            </a:pPr>
            <a:r>
              <a:rPr lang="en-GB" sz="1800"/>
              <a:t>6. Deploy intrusion detection/prevention systems (IDS/IPS) to catch abnormal activities.</a:t>
            </a:r>
          </a:p>
          <a:p>
            <a:pPr marL="0" indent="0">
              <a:buNone/>
            </a:pPr>
            <a:r>
              <a:rPr lang="en-GB" sz="1800"/>
              <a:t>7. Awareness and Training about social engineering, phishing, and safe security practices.</a:t>
            </a:r>
          </a:p>
          <a:p>
            <a:pPr marL="0" indent="0">
              <a:buNone/>
            </a:pPr>
            <a:r>
              <a:rPr lang="en-GB" sz="1800"/>
              <a:t>8. Conduct regular vulnerability scanning and penetration tests to detect new risks.</a:t>
            </a:r>
          </a:p>
          <a:p>
            <a:pPr marL="0" indent="0">
              <a:buNone/>
            </a:pPr>
            <a:endParaRPr lang="en-GB" sz="1800"/>
          </a:p>
          <a:p>
            <a:pPr marL="0" indent="0">
              <a:buNone/>
            </a:pPr>
            <a:endParaRPr lang="en-GB" sz="1800"/>
          </a:p>
          <a:p>
            <a:pPr marL="0" indent="0">
              <a:buNone/>
            </a:pPr>
            <a:endParaRPr lang="en-GB" sz="1800"/>
          </a:p>
        </p:txBody>
      </p:sp>
    </p:spTree>
    <p:extLst>
      <p:ext uri="{BB962C8B-B14F-4D97-AF65-F5344CB8AC3E}">
        <p14:creationId xmlns:p14="http://schemas.microsoft.com/office/powerpoint/2010/main" val="169087361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25275C9-68F3-9BB8-2D17-F2B94F25B8E4}"/>
              </a:ext>
            </a:extLst>
          </p:cNvPr>
          <p:cNvSpPr>
            <a:spLocks noGrp="1"/>
          </p:cNvSpPr>
          <p:nvPr>
            <p:ph type="title"/>
          </p:nvPr>
        </p:nvSpPr>
        <p:spPr>
          <a:xfrm>
            <a:off x="686834" y="1153572"/>
            <a:ext cx="3200400" cy="4461163"/>
          </a:xfrm>
        </p:spPr>
        <p:txBody>
          <a:bodyPr>
            <a:normAutofit/>
          </a:bodyPr>
          <a:lstStyle/>
          <a:p>
            <a:r>
              <a:rPr lang="en-GB">
                <a:solidFill>
                  <a:srgbClr val="FFFFFF"/>
                </a:solidFill>
              </a:rPr>
              <a:t>Conclusion</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7C5B7760-413D-B9B1-01BC-C8415974EF5A}"/>
              </a:ext>
            </a:extLst>
          </p:cNvPr>
          <p:cNvSpPr>
            <a:spLocks noGrp="1"/>
          </p:cNvSpPr>
          <p:nvPr>
            <p:ph idx="1"/>
          </p:nvPr>
        </p:nvSpPr>
        <p:spPr>
          <a:xfrm>
            <a:off x="4447308" y="591344"/>
            <a:ext cx="6906491" cy="5585619"/>
          </a:xfrm>
        </p:spPr>
        <p:txBody>
          <a:bodyPr anchor="ctr">
            <a:normAutofit/>
          </a:bodyPr>
          <a:lstStyle/>
          <a:p>
            <a:r>
              <a:rPr lang="en-GB"/>
              <a:t>The penetration test revealed that the target system is highly vulnerable to compromise due to outdated software, exposed services, and insecure configurations. Immediate remediation is recommended to address these vulnerabilities, including updating software, securing exposed services, and hardening system configurations to reduce the risk of exploitation.</a:t>
            </a:r>
          </a:p>
        </p:txBody>
      </p:sp>
    </p:spTree>
    <p:extLst>
      <p:ext uri="{BB962C8B-B14F-4D97-AF65-F5344CB8AC3E}">
        <p14:creationId xmlns:p14="http://schemas.microsoft.com/office/powerpoint/2010/main" val="272295755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4E4D846-3AFC-4F86-8C35-24B0542A26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erial view of a highway near the ocean">
            <a:extLst>
              <a:ext uri="{FF2B5EF4-FFF2-40B4-BE49-F238E27FC236}">
                <a16:creationId xmlns:a16="http://schemas.microsoft.com/office/drawing/2014/main" id="{55A809F2-096A-2B2D-D2E0-1B169C93CC59}"/>
              </a:ext>
            </a:extLst>
          </p:cNvPr>
          <p:cNvPicPr>
            <a:picLocks noChangeAspect="1"/>
          </p:cNvPicPr>
          <p:nvPr/>
        </p:nvPicPr>
        <p:blipFill>
          <a:blip r:embed="rId2"/>
          <a:srcRect l="5200"/>
          <a:stretch>
            <a:fillRect/>
          </a:stretch>
        </p:blipFill>
        <p:spPr>
          <a:xfrm>
            <a:off x="20" y="10"/>
            <a:ext cx="8668492" cy="6857990"/>
          </a:xfrm>
          <a:prstGeom prst="rect">
            <a:avLst/>
          </a:prstGeom>
        </p:spPr>
      </p:pic>
      <p:sp>
        <p:nvSpPr>
          <p:cNvPr id="11" name="Rectangle 10">
            <a:extLst>
              <a:ext uri="{FF2B5EF4-FFF2-40B4-BE49-F238E27FC236}">
                <a16:creationId xmlns:a16="http://schemas.microsoft.com/office/drawing/2014/main" id="{284781B9-12CB-45C3-907A-9ED93FF72C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435399" y="0"/>
            <a:ext cx="9756601" cy="6858000"/>
          </a:xfrm>
          <a:prstGeom prst="rect">
            <a:avLst/>
          </a:prstGeom>
          <a:gradFill>
            <a:gsLst>
              <a:gs pos="53000">
                <a:schemeClr val="bg1"/>
              </a:gs>
              <a:gs pos="35000">
                <a:schemeClr val="bg1">
                  <a:alpha val="76000"/>
                </a:schemeClr>
              </a:gs>
              <a:gs pos="19000">
                <a:schemeClr val="bg1">
                  <a:alpha val="40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687333"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5" name="Rectangle 14">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53018" y="2443480"/>
            <a:ext cx="3218688" cy="9144"/>
          </a:xfrm>
          <a:prstGeom prst="rect">
            <a:avLst/>
          </a:prstGeom>
          <a:solidFill>
            <a:srgbClr val="D5D5D5"/>
          </a:solidFill>
          <a:ln w="3175">
            <a:solidFill>
              <a:srgbClr val="D5D5D5"/>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EC8BD8B5-4D6F-FC2A-65A5-FBEC93D626E2}"/>
              </a:ext>
            </a:extLst>
          </p:cNvPr>
          <p:cNvSpPr>
            <a:spLocks noGrp="1"/>
          </p:cNvSpPr>
          <p:nvPr>
            <p:ph idx="1"/>
          </p:nvPr>
        </p:nvSpPr>
        <p:spPr>
          <a:xfrm>
            <a:off x="8370470" y="2718054"/>
            <a:ext cx="3438906" cy="3207258"/>
          </a:xfrm>
        </p:spPr>
        <p:txBody>
          <a:bodyPr>
            <a:normAutofit/>
          </a:bodyPr>
          <a:lstStyle/>
          <a:p>
            <a:pPr marL="0" indent="0">
              <a:buNone/>
            </a:pPr>
            <a:r>
              <a:rPr lang="en-GB" sz="1700"/>
              <a:t>THANK YOU</a:t>
            </a:r>
          </a:p>
        </p:txBody>
      </p:sp>
    </p:spTree>
    <p:extLst>
      <p:ext uri="{BB962C8B-B14F-4D97-AF65-F5344CB8AC3E}">
        <p14:creationId xmlns:p14="http://schemas.microsoft.com/office/powerpoint/2010/main" val="206347886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AE6F2518-B084-4896-AF52-66CC2144AA26}"/>
    </a:ext>
  </a:extLst>
</a:theme>
</file>

<file path=docProps/app.xml><?xml version="1.0" encoding="utf-8"?>
<Properties xmlns="http://schemas.openxmlformats.org/officeDocument/2006/extended-properties" xmlns:vt="http://schemas.openxmlformats.org/officeDocument/2006/docPropsVTypes">
  <Template>Office 2013 - 2022 Theme</Template>
  <TotalTime>14136</TotalTime>
  <Words>974</Words>
  <Application>Microsoft Office PowerPoint</Application>
  <PresentationFormat>Widescreen</PresentationFormat>
  <Paragraphs>157</Paragraphs>
  <Slides>58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58</vt:i4>
      </vt:variant>
    </vt:vector>
  </HeadingPairs>
  <TitlesOfParts>
    <vt:vector size="62" baseType="lpstr">
      <vt:lpstr>Arial</vt:lpstr>
      <vt:lpstr>Calibri</vt:lpstr>
      <vt:lpstr>Calibri Light</vt:lpstr>
      <vt:lpstr>Office Theme</vt:lpstr>
      <vt:lpstr>PowerPoint Presentation</vt:lpstr>
      <vt:lpstr>PowerPoint Presentation</vt:lpstr>
      <vt:lpstr>Executive Summary</vt:lpstr>
      <vt:lpstr>Methodology</vt:lpstr>
      <vt:lpstr>Scope of engagement</vt:lpstr>
      <vt:lpstr>Ping the target ip on the host machine</vt:lpstr>
      <vt:lpstr>Host ip address</vt:lpstr>
      <vt:lpstr>Set-up database for the engagement</vt:lpstr>
      <vt:lpstr>Nova Penetration workspace</vt:lpstr>
      <vt:lpstr>Reconnaissance-Nmap scan discovery</vt:lpstr>
      <vt:lpstr>Apache http 2.2.8 Nmap scan 1</vt:lpstr>
      <vt:lpstr>Nmap scan - open port and services</vt:lpstr>
      <vt:lpstr>Enumeration of services- vsftpd</vt:lpstr>
      <vt:lpstr>Telnet</vt:lpstr>
      <vt:lpstr>Java rmi</vt:lpstr>
      <vt:lpstr>ssl-poodle</vt:lpstr>
      <vt:lpstr>Vulnerability Scanning – Exploit on vsftpd </vt:lpstr>
      <vt:lpstr>CVE - vsftpd </vt:lpstr>
      <vt:lpstr>Exploit on Apache tomcat</vt:lpstr>
      <vt:lpstr>Exploit on Telnet</vt:lpstr>
      <vt:lpstr>Exploit on MySQL</vt:lpstr>
      <vt:lpstr>Vulnerability Analysis &amp; Prioritisation Severity is ranked according to CVSS v2/v3 Base Scores provided by the National Vulnerability Database (NVD). </vt:lpstr>
      <vt:lpstr>Exploitation of service - vsftpd 2.3.4 </vt:lpstr>
      <vt:lpstr>vsftpd 2.3.4</vt:lpstr>
      <vt:lpstr>Post-Exploitation of vsftpd 2.3.4</vt:lpstr>
      <vt:lpstr>PowerPoint Presentation</vt:lpstr>
      <vt:lpstr>PowerPoint Presentation</vt:lpstr>
      <vt:lpstr>PowerPoint Presentation</vt:lpstr>
      <vt:lpstr>PowerPoint Presentation</vt:lpstr>
      <vt:lpstr>PowerPoint Presentation</vt:lpstr>
      <vt:lpstr>PowerPoint Presentation</vt:lpstr>
      <vt:lpstr>Exploitation of service – Apache Tomcat</vt:lpstr>
      <vt:lpstr>PowerPoint Presentation</vt:lpstr>
      <vt:lpstr>PowerPoint Presentation</vt:lpstr>
      <vt:lpstr>PowerPoint Presentation</vt:lpstr>
      <vt:lpstr>PowerPoint Presentation</vt:lpstr>
      <vt:lpstr>PowerPoint Presentation</vt:lpstr>
      <vt:lpstr>Post exploitation of service – Apache Tomcat</vt:lpstr>
      <vt:lpstr>PowerPoint Presentation</vt:lpstr>
      <vt:lpstr>PowerPoint Presentation</vt:lpstr>
      <vt:lpstr>Exploitation of service – Samba(SMB)</vt:lpstr>
      <vt:lpstr>PowerPoint Presentation</vt:lpstr>
      <vt:lpstr>Post-Exploitation of Samba (SMB)</vt:lpstr>
      <vt:lpstr>PowerPoint Presentation</vt:lpstr>
      <vt:lpstr>PowerPoint Presentation</vt:lpstr>
      <vt:lpstr>PowerPoint Presentation</vt:lpstr>
      <vt:lpstr>Exploitation of service – MySQL</vt:lpstr>
      <vt:lpstr>PowerPoint Presentation</vt:lpstr>
      <vt:lpstr>PowerPoint Presentation</vt:lpstr>
      <vt:lpstr>PowerPoint Presentation</vt:lpstr>
      <vt:lpstr>Post-Exploitation of MySQL</vt:lpstr>
      <vt:lpstr>PowerPoint Presentation</vt:lpstr>
      <vt:lpstr>PowerPoint Presentation</vt:lpstr>
      <vt:lpstr>Impact of Vulnerabilities</vt:lpstr>
      <vt:lpstr>PowerPoint Presentation</vt:lpstr>
      <vt:lpstr>Recommendations</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Dawuda Issifu</dc:creator>
  <cp:lastModifiedBy>Ogba Okpanku</cp:lastModifiedBy>
  <cp:revision>7</cp:revision>
  <dcterms:created xsi:type="dcterms:W3CDTF">2026-03-10T17:05:28Z</dcterms:created>
  <dcterms:modified xsi:type="dcterms:W3CDTF">2026-09-26T19:35:25Z</dcterms:modified>
</cp:coreProperties>
</file>